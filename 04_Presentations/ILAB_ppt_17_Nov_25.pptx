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98" r:id="rId5"/>
    <p:sldId id="296" r:id="rId6"/>
    <p:sldId id="284" r:id="rId7"/>
    <p:sldId id="299" r:id="rId8"/>
    <p:sldId id="300" r:id="rId9"/>
    <p:sldId id="310" r:id="rId10"/>
    <p:sldId id="311" r:id="rId11"/>
    <p:sldId id="301" r:id="rId12"/>
    <p:sldId id="304" r:id="rId13"/>
    <p:sldId id="306" r:id="rId14"/>
    <p:sldId id="307" r:id="rId15"/>
    <p:sldId id="302" r:id="rId16"/>
    <p:sldId id="305" r:id="rId17"/>
    <p:sldId id="312" r:id="rId18"/>
    <p:sldId id="308" r:id="rId19"/>
    <p:sldId id="303" r:id="rId20"/>
    <p:sldId id="309" r:id="rId21"/>
    <p:sldId id="279" r:id="rId2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001090"/>
    <a:srgbClr val="7A1A46"/>
    <a:srgbClr val="FFFFFF"/>
    <a:srgbClr val="F0866E"/>
    <a:srgbClr val="EBE9E1"/>
    <a:srgbClr val="5D9AD9"/>
    <a:srgbClr val="27ACAA"/>
    <a:srgbClr val="FFFF00"/>
    <a:srgbClr val="CCA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39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aj, Tomas" userId="24ba87dd-e0d6-46e4-b32b-c6bf33e42df2" providerId="ADAL" clId="{7B1B8F56-5866-4008-9BBB-243D261A6A02}"/>
    <pc:docChg chg="modSld">
      <pc:chgData name="Samaj, Tomas" userId="24ba87dd-e0d6-46e4-b32b-c6bf33e42df2" providerId="ADAL" clId="{7B1B8F56-5866-4008-9BBB-243D261A6A02}" dt="2026-02-04T09:24:57.651" v="1" actId="1038"/>
      <pc:docMkLst>
        <pc:docMk/>
      </pc:docMkLst>
      <pc:sldChg chg="modSp mod">
        <pc:chgData name="Samaj, Tomas" userId="24ba87dd-e0d6-46e4-b32b-c6bf33e42df2" providerId="ADAL" clId="{7B1B8F56-5866-4008-9BBB-243D261A6A02}" dt="2026-02-04T09:24:57.651" v="1" actId="1038"/>
        <pc:sldMkLst>
          <pc:docMk/>
          <pc:sldMk cId="1029923139" sldId="300"/>
        </pc:sldMkLst>
        <pc:picChg chg="mod">
          <ac:chgData name="Samaj, Tomas" userId="24ba87dd-e0d6-46e4-b32b-c6bf33e42df2" providerId="ADAL" clId="{7B1B8F56-5866-4008-9BBB-243D261A6A02}" dt="2026-02-04T09:24:57.651" v="1" actId="1038"/>
          <ac:picMkLst>
            <pc:docMk/>
            <pc:sldMk cId="1029923139" sldId="300"/>
            <ac:picMk id="3" creationId="{F69392D7-F6F2-A1FA-2A1B-9F4C4B8164C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96DC88-90A2-4C9C-9402-4663D4C02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9EC8A-50EC-45A3-B810-5AE96CB729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AA3E-9629-40AD-8C92-953C091CF8B3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F226B3-7CD0-4D50-9EDC-E5E05803FB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98AEF-1BC2-4BE3-80F7-CABE69E8AB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48504-D590-417E-951D-5AF89501B3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0752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D1F3C-C481-4FCB-8E73-2F7BF5DD3209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3B1D7-79F0-40D6-A314-F8CC7725E1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416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/>
              <a:t>Tags: divider, simple, no image, left aligned header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AF6D-BA0E-4594-94DB-478664329D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10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C7021C57-3FB1-DC2D-7AA8-4192FFE1B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D5272B90-A857-A9DD-1E48-AFE9F2E46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A0A9258F-F930-7275-9B93-A6590092B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67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246F4479-7D17-91F7-2E01-C7A5F9EE2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70FC56B8-4193-F011-B77E-B8FC2D401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2BDBE56C-C817-0377-8F59-62EB68D84F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62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7A2B4E87-448C-B31E-23CA-B662E8B99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F63E3947-3F39-272D-176E-EA2AE808E1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EEE7CB55-23BC-5427-7DE6-CC62EA9467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7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F7442D44-96EF-5851-AE38-6A762566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A3002580-0147-6FDF-F132-96BA39DA5A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0D2B7D14-E585-EC5A-E4A4-DEC8DB024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54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E8D9AC71-E979-0C5F-EBCC-DB60FED1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205F0D9A-7BF2-BF96-8429-A8C53B7399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AA71EC48-A8D4-D344-B1BA-01ADC7F973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36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4D2722D7-5DF1-F49C-603E-B058171AE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A4FDFA02-EFB5-D776-AEF6-48B8BE0C23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258FDB13-4E40-F6C1-F963-E7952162E3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85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FAC404DD-6D90-9E7A-B46D-63E76B3C7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6DC23165-3B27-11D7-5117-58F614E2F7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963F98DA-EA0B-F1DA-7883-6350F7226D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36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09C83D10-2260-B7EB-97DC-868FBF70B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E2419235-73FD-6AD4-D853-97D9A7F462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6AC91B98-C81F-81F2-CA70-808521D3E3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99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C7BC812C-7D43-39D6-EDC9-B9C4E1913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BB4BCAD2-3378-7A22-95D0-D4779DD43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2F5E8884-F5B1-8DBF-4FA2-CC77308C2D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73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E03FBB91-B518-CE45-82F2-BBF52B95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CDEB903E-DC97-44FF-B95B-058DF74A3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BE0DA110-D799-B8D6-6040-3E5F869142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23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E00565-BEC5-9D75-E809-813ED065F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FC44D170-E4C7-8FAE-D452-728F0A165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7B1E4C49-921B-CCFF-CFE9-88F443120C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13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3E5662BA-A68A-1038-29B4-285A506C0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E0562A64-0FD0-AA93-6006-7CC51FEAD8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89D3E903-44C4-6459-BD83-3D9D3E036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886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D028EB70-4EE6-FF70-95B1-0B7846E76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35AC3029-5168-6487-70E1-5B67EFEF17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2A552FAE-F663-DDB3-1827-EC27C3E1FF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00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cb944fc367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8" name="Google Shape;348;g2cb944fc36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28">
            <a:extLst>
              <a:ext uri="{FF2B5EF4-FFF2-40B4-BE49-F238E27FC236}">
                <a16:creationId xmlns:a16="http://schemas.microsoft.com/office/drawing/2014/main" id="{51D23840-E17D-FD8C-3E5E-D0FC70B42E21}"/>
              </a:ext>
            </a:extLst>
          </p:cNvPr>
          <p:cNvSpPr txBox="1"/>
          <p:nvPr userDrawn="1"/>
        </p:nvSpPr>
        <p:spPr>
          <a:xfrm>
            <a:off x="10858050" y="0"/>
            <a:ext cx="16539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de"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ISK </a:t>
            </a:r>
            <a:r>
              <a:rPr lang="de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Wien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de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Institut für strategische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de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Kapitalmarktforschung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25;p2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873469E9-8D72-95C8-1FDD-1EDB72DC98F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22702" y="96277"/>
            <a:ext cx="540000" cy="415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zövegdoboz 8">
            <a:extLst>
              <a:ext uri="{FF2B5EF4-FFF2-40B4-BE49-F238E27FC236}">
                <a16:creationId xmlns:a16="http://schemas.microsoft.com/office/drawing/2014/main" id="{460B4F66-13A1-4B13-BA18-A9C50AD9585F}"/>
              </a:ext>
            </a:extLst>
          </p:cNvPr>
          <p:cNvSpPr txBox="1"/>
          <p:nvPr userDrawn="1"/>
        </p:nvSpPr>
        <p:spPr>
          <a:xfrm>
            <a:off x="11422380" y="6517910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‹#›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18" name="Szöveg helye 2">
            <a:extLst>
              <a:ext uri="{FF2B5EF4-FFF2-40B4-BE49-F238E27FC236}">
                <a16:creationId xmlns:a16="http://schemas.microsoft.com/office/drawing/2014/main" id="{7A2B6DAA-3D2E-4851-803C-B1FAE19AE4B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26814" y="96277"/>
            <a:ext cx="11295566" cy="441417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lang="en-GB" sz="1800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GB"/>
              <a:t>Action title</a:t>
            </a:r>
          </a:p>
        </p:txBody>
      </p:sp>
      <p:pic>
        <p:nvPicPr>
          <p:cNvPr id="3" name="Google Shape;125;p2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910648F3-FB8E-D9F3-3FE7-7042347B3A9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75968" y="109204"/>
            <a:ext cx="540000" cy="415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5244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/>
            </a:lvl1pPr>
            <a:lvl2pPr marL="0" lvl="1" indent="0" algn="r">
              <a:spcBef>
                <a:spcPts val="0"/>
              </a:spcBef>
              <a:buNone/>
              <a:defRPr sz="1400" b="1"/>
            </a:lvl2pPr>
            <a:lvl3pPr marL="0" lvl="2" indent="0" algn="r">
              <a:spcBef>
                <a:spcPts val="0"/>
              </a:spcBef>
              <a:buNone/>
              <a:defRPr sz="1400" b="1"/>
            </a:lvl3pPr>
            <a:lvl4pPr marL="0" lvl="3" indent="0" algn="r">
              <a:spcBef>
                <a:spcPts val="0"/>
              </a:spcBef>
              <a:buNone/>
              <a:defRPr sz="1400" b="1"/>
            </a:lvl4pPr>
            <a:lvl5pPr marL="0" lvl="4" indent="0" algn="r">
              <a:spcBef>
                <a:spcPts val="0"/>
              </a:spcBef>
              <a:buNone/>
              <a:defRPr sz="1400" b="1"/>
            </a:lvl5pPr>
            <a:lvl6pPr marL="0" lvl="5" indent="0" algn="r">
              <a:spcBef>
                <a:spcPts val="0"/>
              </a:spcBef>
              <a:buNone/>
              <a:defRPr sz="1400" b="1"/>
            </a:lvl6pPr>
            <a:lvl7pPr marL="0" lvl="6" indent="0" algn="r">
              <a:spcBef>
                <a:spcPts val="0"/>
              </a:spcBef>
              <a:buNone/>
              <a:defRPr sz="1400" b="1"/>
            </a:lvl7pPr>
            <a:lvl8pPr marL="0" lvl="7" indent="0" algn="r">
              <a:spcBef>
                <a:spcPts val="0"/>
              </a:spcBef>
              <a:buNone/>
              <a:defRPr sz="1400" b="1"/>
            </a:lvl8pPr>
            <a:lvl9pPr marL="0" lvl="8" indent="0" algn="r">
              <a:spcBef>
                <a:spcPts val="0"/>
              </a:spcBef>
              <a:buNone/>
              <a:defRPr sz="14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b="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D545910-EC58-4E59-AC9B-9F096DAB35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65220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4" r:id="rId2"/>
    <p:sldLayoutId id="2147483665" r:id="rId3"/>
    <p:sldLayoutId id="214748366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farkastallos/Ilab_Factor_Momentu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uilding with a triangular shape&#10;&#10;AI-generated content may be incorrect.">
            <a:extLst>
              <a:ext uri="{FF2B5EF4-FFF2-40B4-BE49-F238E27FC236}">
                <a16:creationId xmlns:a16="http://schemas.microsoft.com/office/drawing/2014/main" id="{DBD9CD5C-D8DF-5A5F-6665-5D3EB1AB0F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lowchart: Manual Operation 4">
            <a:extLst>
              <a:ext uri="{FF2B5EF4-FFF2-40B4-BE49-F238E27FC236}">
                <a16:creationId xmlns:a16="http://schemas.microsoft.com/office/drawing/2014/main" id="{AD92602E-37E8-2B87-7318-C55F83EC64B3}"/>
              </a:ext>
            </a:extLst>
          </p:cNvPr>
          <p:cNvSpPr/>
          <p:nvPr/>
        </p:nvSpPr>
        <p:spPr>
          <a:xfrm rot="11297026">
            <a:off x="-2137957" y="-537424"/>
            <a:ext cx="8776041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Flowchart: Manual Operation 5">
            <a:extLst>
              <a:ext uri="{FF2B5EF4-FFF2-40B4-BE49-F238E27FC236}">
                <a16:creationId xmlns:a16="http://schemas.microsoft.com/office/drawing/2014/main" id="{491F0452-A849-34DC-C8AF-08FDA1459794}"/>
              </a:ext>
            </a:extLst>
          </p:cNvPr>
          <p:cNvSpPr/>
          <p:nvPr/>
        </p:nvSpPr>
        <p:spPr>
          <a:xfrm rot="9995555">
            <a:off x="-1675859" y="-581934"/>
            <a:ext cx="8349401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83BC8-33B0-80E3-64CC-B5C4B4902DAF}"/>
              </a:ext>
            </a:extLst>
          </p:cNvPr>
          <p:cNvSpPr txBox="1"/>
          <p:nvPr/>
        </p:nvSpPr>
        <p:spPr>
          <a:xfrm>
            <a:off x="268201" y="639599"/>
            <a:ext cx="5194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b="1" noProof="0">
                <a:solidFill>
                  <a:schemeClr val="bg1">
                    <a:lumMod val="95000"/>
                  </a:schemeClr>
                </a:solidFill>
              </a:rPr>
              <a:t>ZZ </a:t>
            </a:r>
            <a:r>
              <a:rPr lang="cs-CZ" sz="3200" b="1" noProof="0" err="1">
                <a:solidFill>
                  <a:schemeClr val="bg1">
                    <a:lumMod val="95000"/>
                  </a:schemeClr>
                </a:solidFill>
              </a:rPr>
              <a:t>ILab</a:t>
            </a:r>
            <a:r>
              <a:rPr lang="cs-CZ" sz="3200" b="1" noProof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cs-CZ" sz="3200" b="1" noProof="0" err="1">
                <a:solidFill>
                  <a:schemeClr val="bg1">
                    <a:lumMod val="95000"/>
                  </a:schemeClr>
                </a:solidFill>
              </a:rPr>
              <a:t>Presentation</a:t>
            </a:r>
            <a:r>
              <a:rPr lang="cs-CZ" sz="3200" b="1" noProof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en-US" sz="3200" b="1" noProof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97B07-A739-A37D-09CD-A8561FBB4B96}"/>
              </a:ext>
            </a:extLst>
          </p:cNvPr>
          <p:cNvSpPr/>
          <p:nvPr/>
        </p:nvSpPr>
        <p:spPr>
          <a:xfrm>
            <a:off x="268201" y="1819762"/>
            <a:ext cx="5194642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cs-CZ" sz="1600" b="0" i="1" u="none" strike="noStrike" cap="none" noProof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Giulio</a:t>
            </a:r>
            <a:r>
              <a:rPr lang="cs-CZ" sz="1600" b="0" i="1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cs-CZ" sz="1600" b="0" i="1" u="none" strike="noStrike" cap="none" noProof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Iepure</a:t>
            </a:r>
            <a:r>
              <a:rPr lang="en-US" sz="1600" b="0" i="1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Caterina Piacentini, Farkas Tallos, Tomas Samaj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B0A37E-7A11-EECA-1CD9-E4DD56413B52}"/>
              </a:ext>
            </a:extLst>
          </p:cNvPr>
          <p:cNvSpPr/>
          <p:nvPr/>
        </p:nvSpPr>
        <p:spPr>
          <a:xfrm>
            <a:off x="268201" y="1225177"/>
            <a:ext cx="5194642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cs-CZ" sz="3200">
                <a:solidFill>
                  <a:schemeClr val="bg1">
                    <a:lumMod val="95000"/>
                  </a:schemeClr>
                </a:solidFill>
                <a:sym typeface="Calibri"/>
              </a:rPr>
              <a:t>17</a:t>
            </a:r>
            <a:r>
              <a:rPr lang="en-US" sz="3200" noProof="0">
                <a:solidFill>
                  <a:schemeClr val="bg1">
                    <a:lumMod val="95000"/>
                  </a:schemeClr>
                </a:solidFill>
                <a:sym typeface="Calibri"/>
              </a:rPr>
              <a:t>.11.2025</a:t>
            </a:r>
          </a:p>
        </p:txBody>
      </p:sp>
    </p:spTree>
    <p:extLst>
      <p:ext uri="{BB962C8B-B14F-4D97-AF65-F5344CB8AC3E}">
        <p14:creationId xmlns:p14="http://schemas.microsoft.com/office/powerpoint/2010/main" val="344366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4785FDF-B953-4139-AB2D-2973F144F9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4785FDF-B953-4139-AB2D-2973F144F9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F8651E3-1C12-42EF-900E-7FD32E26282C}"/>
              </a:ext>
            </a:extLst>
          </p:cNvPr>
          <p:cNvSpPr/>
          <p:nvPr/>
        </p:nvSpPr>
        <p:spPr>
          <a:xfrm>
            <a:off x="169682" y="197962"/>
            <a:ext cx="4551174" cy="65233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3E941A6-7602-4A3E-A028-A0A8E6585B12}"/>
              </a:ext>
            </a:extLst>
          </p:cNvPr>
          <p:cNvSpPr txBox="1">
            <a:spLocks/>
          </p:cNvSpPr>
          <p:nvPr/>
        </p:nvSpPr>
        <p:spPr>
          <a:xfrm>
            <a:off x="495593" y="2069466"/>
            <a:ext cx="2598481" cy="623396"/>
          </a:xfrm>
          <a:prstGeom prst="rect">
            <a:avLst/>
          </a:prstGeom>
        </p:spPr>
        <p:txBody>
          <a:bodyPr lIns="0" tIns="0" rIns="0" bIns="0" anchor="t"/>
          <a:lstStyle>
            <a:lvl1pPr algn="l" defTabSz="121917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4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j-ea"/>
                <a:cs typeface="+mj-cs"/>
              </a:rPr>
              <a:t>Agenda</a:t>
            </a: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C169E0-D508-479B-A3AF-2B717F90543D}"/>
              </a:ext>
            </a:extLst>
          </p:cNvPr>
          <p:cNvSpPr/>
          <p:nvPr/>
        </p:nvSpPr>
        <p:spPr>
          <a:xfrm>
            <a:off x="612740" y="1880365"/>
            <a:ext cx="763573" cy="709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C6BDF50-7426-183A-1915-694FAF6C2B0A}"/>
              </a:ext>
            </a:extLst>
          </p:cNvPr>
          <p:cNvSpPr/>
          <p:nvPr/>
        </p:nvSpPr>
        <p:spPr>
          <a:xfrm>
            <a:off x="5163914" y="1484069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1155EB4-0991-16FF-630B-8600093CB589}"/>
              </a:ext>
            </a:extLst>
          </p:cNvPr>
          <p:cNvSpPr/>
          <p:nvPr/>
        </p:nvSpPr>
        <p:spPr>
          <a:xfrm>
            <a:off x="5163914" y="2339446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07FB2F-E780-7DC7-9AA2-DD190F8DE8CF}"/>
              </a:ext>
            </a:extLst>
          </p:cNvPr>
          <p:cNvSpPr/>
          <p:nvPr/>
        </p:nvSpPr>
        <p:spPr>
          <a:xfrm>
            <a:off x="6276434" y="1537681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What we did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0E8AE1-C503-1217-5863-3C626BE1B311}"/>
              </a:ext>
            </a:extLst>
          </p:cNvPr>
          <p:cNvSpPr/>
          <p:nvPr/>
        </p:nvSpPr>
        <p:spPr>
          <a:xfrm>
            <a:off x="6276434" y="2393058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err="1">
                <a:solidFill>
                  <a:schemeClr val="tx1"/>
                </a:solidFill>
              </a:rPr>
              <a:t>Regressions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51F698-5533-8459-909C-EE5E9D1D31E0}"/>
              </a:ext>
            </a:extLst>
          </p:cNvPr>
          <p:cNvSpPr/>
          <p:nvPr/>
        </p:nvSpPr>
        <p:spPr>
          <a:xfrm>
            <a:off x="6276434" y="3248435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>
                <a:solidFill>
                  <a:schemeClr val="tx1"/>
                </a:solidFill>
              </a:rPr>
              <a:t>Long/Short Performance &amp; Robustness Checks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F43879-9D51-BC85-DBBC-2EF22D8ECA66}"/>
              </a:ext>
            </a:extLst>
          </p:cNvPr>
          <p:cNvSpPr/>
          <p:nvPr/>
        </p:nvSpPr>
        <p:spPr>
          <a:xfrm>
            <a:off x="6276434" y="4103812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3734EC-DFB3-5F1C-72C7-22DBC63EC47F}"/>
              </a:ext>
            </a:extLst>
          </p:cNvPr>
          <p:cNvSpPr/>
          <p:nvPr/>
        </p:nvSpPr>
        <p:spPr>
          <a:xfrm>
            <a:off x="6276434" y="4957020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>
                <a:solidFill>
                  <a:schemeClr val="tx1"/>
                </a:solidFill>
              </a:rPr>
              <a:t>R-Shiny App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BBE7119-2E1F-2BFA-8618-FECBA1A79DC2}"/>
              </a:ext>
            </a:extLst>
          </p:cNvPr>
          <p:cNvSpPr/>
          <p:nvPr/>
        </p:nvSpPr>
        <p:spPr>
          <a:xfrm>
            <a:off x="5163914" y="3194823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59A9A9C-C523-7E3A-1D06-79F69686BFF1}"/>
              </a:ext>
            </a:extLst>
          </p:cNvPr>
          <p:cNvSpPr/>
          <p:nvPr/>
        </p:nvSpPr>
        <p:spPr>
          <a:xfrm>
            <a:off x="5163914" y="4050200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B951665-5E67-07FC-E235-9CC09AB7BA17}"/>
              </a:ext>
            </a:extLst>
          </p:cNvPr>
          <p:cNvSpPr/>
          <p:nvPr/>
        </p:nvSpPr>
        <p:spPr>
          <a:xfrm>
            <a:off x="5163914" y="4905577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A12E38-066B-265B-A0AC-EB5B9B493A3E}"/>
              </a:ext>
            </a:extLst>
          </p:cNvPr>
          <p:cNvSpPr/>
          <p:nvPr/>
        </p:nvSpPr>
        <p:spPr>
          <a:xfrm>
            <a:off x="5214206" y="1537681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A3A024-B3C7-5DCB-F4B0-D3884AC4FE76}"/>
              </a:ext>
            </a:extLst>
          </p:cNvPr>
          <p:cNvSpPr/>
          <p:nvPr/>
        </p:nvSpPr>
        <p:spPr>
          <a:xfrm>
            <a:off x="5214206" y="2393058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2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7C5C5B-EA00-88D9-7FF6-D82E3C246E5C}"/>
              </a:ext>
            </a:extLst>
          </p:cNvPr>
          <p:cNvSpPr/>
          <p:nvPr/>
        </p:nvSpPr>
        <p:spPr>
          <a:xfrm>
            <a:off x="5214206" y="3248435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3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824D5B7-28B6-333A-1603-CDA04BAFA926}"/>
              </a:ext>
            </a:extLst>
          </p:cNvPr>
          <p:cNvSpPr/>
          <p:nvPr/>
        </p:nvSpPr>
        <p:spPr>
          <a:xfrm>
            <a:off x="5214206" y="4096120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4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239547-9A86-AD84-8993-54EEAFFB69BF}"/>
              </a:ext>
            </a:extLst>
          </p:cNvPr>
          <p:cNvSpPr/>
          <p:nvPr/>
        </p:nvSpPr>
        <p:spPr>
          <a:xfrm>
            <a:off x="5214206" y="4959189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5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AEA6DA5-C3E1-46C3-E5C9-933F49EB51CC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>
            <a:off x="5442806" y="2032709"/>
            <a:ext cx="0" cy="3067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D29329B-C61F-6534-7E1A-FA9C2FCD534D}"/>
              </a:ext>
            </a:extLst>
          </p:cNvPr>
          <p:cNvCxnSpPr>
            <a:cxnSpLocks/>
            <a:stCxn id="30" idx="4"/>
            <a:endCxn id="37" idx="0"/>
          </p:cNvCxnSpPr>
          <p:nvPr/>
        </p:nvCxnSpPr>
        <p:spPr>
          <a:xfrm>
            <a:off x="5442806" y="2888086"/>
            <a:ext cx="0" cy="3067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0FB6B7E-DADD-F820-B4E7-ED7C1C84A529}"/>
              </a:ext>
            </a:extLst>
          </p:cNvPr>
          <p:cNvCxnSpPr>
            <a:cxnSpLocks/>
            <a:stCxn id="37" idx="4"/>
            <a:endCxn id="39" idx="0"/>
          </p:cNvCxnSpPr>
          <p:nvPr/>
        </p:nvCxnSpPr>
        <p:spPr>
          <a:xfrm>
            <a:off x="5442806" y="3743463"/>
            <a:ext cx="0" cy="3067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C1F5090-862C-90A8-03A0-A681FAC7B8BC}"/>
              </a:ext>
            </a:extLst>
          </p:cNvPr>
          <p:cNvCxnSpPr>
            <a:cxnSpLocks/>
            <a:stCxn id="39" idx="4"/>
            <a:endCxn id="40" idx="0"/>
          </p:cNvCxnSpPr>
          <p:nvPr/>
        </p:nvCxnSpPr>
        <p:spPr>
          <a:xfrm>
            <a:off x="5442806" y="4598840"/>
            <a:ext cx="0" cy="30673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A86FFE2-C5A4-D33E-5242-FF5FB6C1E19E}"/>
              </a:ext>
            </a:extLst>
          </p:cNvPr>
          <p:cNvSpPr txBox="1"/>
          <p:nvPr/>
        </p:nvSpPr>
        <p:spPr>
          <a:xfrm>
            <a:off x="6276434" y="4139854"/>
            <a:ext cx="5798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Selected factor performance</a:t>
            </a:r>
          </a:p>
        </p:txBody>
      </p:sp>
    </p:spTree>
    <p:extLst>
      <p:ext uri="{BB962C8B-B14F-4D97-AF65-F5344CB8AC3E}">
        <p14:creationId xmlns:p14="http://schemas.microsoft.com/office/powerpoint/2010/main" val="361736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FE075422-52B7-6EF2-2C47-6C2AA1AD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E723D-3498-E4F9-67BB-9D7484B4C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What</a:t>
            </a:r>
            <a:r>
              <a:rPr lang="cs-CZ"/>
              <a:t> </a:t>
            </a:r>
            <a:r>
              <a:rPr lang="cs-CZ" err="1"/>
              <a:t>we</a:t>
            </a:r>
            <a:r>
              <a:rPr lang="cs-CZ"/>
              <a:t> </a:t>
            </a:r>
            <a:r>
              <a:rPr lang="cs-CZ" err="1"/>
              <a:t>did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4AD08B-9149-A2A6-D4FD-CEDBEC434741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List </a:t>
            </a:r>
            <a:r>
              <a:rPr lang="cs-CZ" sz="1800" b="1" noProof="0" err="1">
                <a:solidFill>
                  <a:schemeClr val="bg1"/>
                </a:solidFill>
              </a:rPr>
              <a:t>of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Updates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46997C-3278-C5EF-02E2-8F947F553DC4}"/>
              </a:ext>
            </a:extLst>
          </p:cNvPr>
          <p:cNvSpPr/>
          <p:nvPr/>
        </p:nvSpPr>
        <p:spPr>
          <a:xfrm>
            <a:off x="391886" y="1748307"/>
            <a:ext cx="11258246" cy="4537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 err="1">
                <a:solidFill>
                  <a:schemeClr val="tx1"/>
                </a:solidFill>
              </a:rPr>
              <a:t>Factor</a:t>
            </a:r>
            <a:r>
              <a:rPr lang="hu-HU" sz="1400" b="1">
                <a:solidFill>
                  <a:schemeClr val="tx1"/>
                </a:solidFill>
              </a:rPr>
              <a:t> </a:t>
            </a:r>
            <a:r>
              <a:rPr lang="hu-HU" sz="1400" b="1" err="1">
                <a:solidFill>
                  <a:schemeClr val="tx1"/>
                </a:solidFill>
              </a:rPr>
              <a:t>Regressions</a:t>
            </a:r>
            <a:r>
              <a:rPr lang="hu-HU" sz="1400" b="1">
                <a:solidFill>
                  <a:schemeClr val="tx1"/>
                </a:solidFill>
              </a:rPr>
              <a:t> </a:t>
            </a:r>
            <a:r>
              <a:rPr lang="hu-HU" sz="1400" b="1" err="1">
                <a:solidFill>
                  <a:schemeClr val="tx1"/>
                </a:solidFill>
              </a:rPr>
              <a:t>on</a:t>
            </a:r>
            <a:r>
              <a:rPr lang="hu-HU" sz="1400" b="1">
                <a:solidFill>
                  <a:schemeClr val="tx1"/>
                </a:solidFill>
              </a:rPr>
              <a:t> FF3 and FF5+Momentum.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>
                <a:solidFill>
                  <a:schemeClr val="tx1"/>
                </a:solidFill>
              </a:rPr>
              <a:t>Long/</a:t>
            </a:r>
            <a:r>
              <a:rPr lang="hu-HU" sz="1400" b="1" err="1">
                <a:solidFill>
                  <a:schemeClr val="tx1"/>
                </a:solidFill>
              </a:rPr>
              <a:t>Short</a:t>
            </a:r>
            <a:r>
              <a:rPr lang="hu-HU" sz="1400" b="1">
                <a:solidFill>
                  <a:schemeClr val="tx1"/>
                </a:solidFill>
              </a:rPr>
              <a:t> Performance.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 err="1">
                <a:solidFill>
                  <a:schemeClr val="tx1"/>
                </a:solidFill>
              </a:rPr>
              <a:t>Clustering</a:t>
            </a:r>
            <a:r>
              <a:rPr lang="hu-HU" sz="1400" b="1">
                <a:solidFill>
                  <a:schemeClr val="tx1"/>
                </a:solidFill>
              </a:rPr>
              <a:t> Performance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 err="1">
                <a:solidFill>
                  <a:schemeClr val="tx1"/>
                </a:solidFill>
              </a:rPr>
              <a:t>Lagging</a:t>
            </a:r>
            <a:r>
              <a:rPr lang="hu-HU" sz="1400" b="1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 err="1">
                <a:solidFill>
                  <a:schemeClr val="tx1"/>
                </a:solidFill>
              </a:rPr>
              <a:t>Correlation</a:t>
            </a:r>
            <a:r>
              <a:rPr lang="hu-HU" sz="1400" b="1">
                <a:solidFill>
                  <a:schemeClr val="tx1"/>
                </a:solidFill>
              </a:rPr>
              <a:t> and Performance </a:t>
            </a:r>
            <a:r>
              <a:rPr lang="hu-HU" sz="1400" b="1" err="1">
                <a:solidFill>
                  <a:schemeClr val="tx1"/>
                </a:solidFill>
              </a:rPr>
              <a:t>during</a:t>
            </a:r>
            <a:r>
              <a:rPr lang="hu-HU" sz="1400" b="1">
                <a:solidFill>
                  <a:schemeClr val="tx1"/>
                </a:solidFill>
              </a:rPr>
              <a:t> </a:t>
            </a:r>
            <a:r>
              <a:rPr lang="hu-HU" sz="1400" b="1" err="1">
                <a:solidFill>
                  <a:schemeClr val="tx1"/>
                </a:solidFill>
              </a:rPr>
              <a:t>Crises</a:t>
            </a:r>
            <a:r>
              <a:rPr lang="hu-HU" sz="1400" b="1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 err="1">
                <a:solidFill>
                  <a:schemeClr val="tx1"/>
                </a:solidFill>
              </a:rPr>
              <a:t>Correlation</a:t>
            </a:r>
            <a:r>
              <a:rPr lang="hu-HU" sz="1400" b="1">
                <a:solidFill>
                  <a:schemeClr val="tx1"/>
                </a:solidFill>
              </a:rPr>
              <a:t> to </a:t>
            </a:r>
            <a:r>
              <a:rPr lang="hu-HU" sz="1400" b="1" err="1">
                <a:solidFill>
                  <a:schemeClr val="tx1"/>
                </a:solidFill>
              </a:rPr>
              <a:t>the</a:t>
            </a:r>
            <a:r>
              <a:rPr lang="hu-HU" sz="1400" b="1">
                <a:solidFill>
                  <a:schemeClr val="tx1"/>
                </a:solidFill>
              </a:rPr>
              <a:t> 60/40 </a:t>
            </a:r>
            <a:r>
              <a:rPr lang="hu-HU" sz="1400" b="1" err="1">
                <a:solidFill>
                  <a:schemeClr val="tx1"/>
                </a:solidFill>
              </a:rPr>
              <a:t>Portfolio</a:t>
            </a:r>
            <a:r>
              <a:rPr lang="hu-HU" sz="1400" b="1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>
                <a:solidFill>
                  <a:schemeClr val="tx1"/>
                </a:solidFill>
              </a:rPr>
              <a:t>New Momentum </a:t>
            </a:r>
            <a:r>
              <a:rPr lang="hu-HU" sz="1400" b="1" err="1">
                <a:solidFill>
                  <a:schemeClr val="tx1"/>
                </a:solidFill>
              </a:rPr>
              <a:t>definition</a:t>
            </a:r>
            <a:r>
              <a:rPr lang="hu-HU" sz="1400" b="1">
                <a:solidFill>
                  <a:schemeClr val="tx1"/>
                </a:solidFill>
              </a:rPr>
              <a:t> (25% Long - 25% </a:t>
            </a:r>
            <a:r>
              <a:rPr lang="hu-HU" sz="1400" b="1" err="1">
                <a:solidFill>
                  <a:schemeClr val="tx1"/>
                </a:solidFill>
              </a:rPr>
              <a:t>Short</a:t>
            </a:r>
            <a:r>
              <a:rPr lang="hu-HU" sz="1400" b="1">
                <a:solidFill>
                  <a:schemeClr val="tx1"/>
                </a:solidFill>
              </a:rPr>
              <a:t>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>
                <a:solidFill>
                  <a:schemeClr val="tx1"/>
                </a:solidFill>
              </a:rPr>
              <a:t>Selection of </a:t>
            </a:r>
            <a:r>
              <a:rPr lang="hu-HU" sz="1400" b="1" err="1">
                <a:solidFill>
                  <a:schemeClr val="tx1"/>
                </a:solidFill>
              </a:rPr>
              <a:t>Factors</a:t>
            </a:r>
            <a:r>
              <a:rPr lang="hu-HU" sz="1400" b="1">
                <a:solidFill>
                  <a:schemeClr val="tx1"/>
                </a:solidFill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>
                <a:solidFill>
                  <a:schemeClr val="tx1"/>
                </a:solidFill>
              </a:rPr>
              <a:t>Performance of </a:t>
            </a:r>
            <a:r>
              <a:rPr lang="hu-HU" sz="1400" b="1" err="1">
                <a:solidFill>
                  <a:schemeClr val="tx1"/>
                </a:solidFill>
              </a:rPr>
              <a:t>Selected</a:t>
            </a:r>
            <a:r>
              <a:rPr lang="hu-HU" sz="1400" b="1">
                <a:solidFill>
                  <a:schemeClr val="tx1"/>
                </a:solidFill>
              </a:rPr>
              <a:t> </a:t>
            </a:r>
            <a:r>
              <a:rPr lang="hu-HU" sz="1400" b="1" err="1">
                <a:solidFill>
                  <a:schemeClr val="tx1"/>
                </a:solidFill>
              </a:rPr>
              <a:t>Factors</a:t>
            </a:r>
            <a:r>
              <a:rPr lang="hu-HU" sz="1400" b="1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 err="1">
                <a:solidFill>
                  <a:schemeClr val="tx1"/>
                </a:solidFill>
              </a:rPr>
              <a:t>R</a:t>
            </a:r>
            <a:r>
              <a:rPr lang="hu-HU" sz="1400" b="1">
                <a:solidFill>
                  <a:schemeClr val="tx1"/>
                </a:solidFill>
              </a:rPr>
              <a:t> </a:t>
            </a:r>
            <a:r>
              <a:rPr lang="hu-HU" sz="1400" b="1" err="1">
                <a:solidFill>
                  <a:schemeClr val="tx1"/>
                </a:solidFill>
              </a:rPr>
              <a:t>Shiny</a:t>
            </a:r>
            <a:r>
              <a:rPr lang="hu-HU" sz="1400" b="1">
                <a:solidFill>
                  <a:schemeClr val="tx1"/>
                </a:solidFill>
              </a:rPr>
              <a:t> App.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b="1" err="1">
                <a:solidFill>
                  <a:schemeClr val="tx1"/>
                </a:solidFill>
              </a:rPr>
              <a:t>Questions</a:t>
            </a:r>
            <a:r>
              <a:rPr lang="hu-HU" sz="1400" b="1">
                <a:solidFill>
                  <a:schemeClr val="tx1"/>
                </a:solidFill>
              </a:rPr>
              <a:t> &amp; </a:t>
            </a:r>
            <a:r>
              <a:rPr lang="hu-HU" sz="1400" b="1" err="1">
                <a:solidFill>
                  <a:schemeClr val="tx1"/>
                </a:solidFill>
              </a:rPr>
              <a:t>Next</a:t>
            </a:r>
            <a:r>
              <a:rPr lang="hu-HU" sz="1400" b="1">
                <a:solidFill>
                  <a:schemeClr val="tx1"/>
                </a:solidFill>
              </a:rPr>
              <a:t> </a:t>
            </a:r>
            <a:r>
              <a:rPr lang="hu-HU" sz="1400" b="1" err="1">
                <a:solidFill>
                  <a:schemeClr val="tx1"/>
                </a:solidFill>
              </a:rPr>
              <a:t>Steps</a:t>
            </a:r>
            <a:r>
              <a:rPr lang="hu-HU" sz="1400" b="1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hu-HU" sz="1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26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8EAB5BC5-214E-F54F-17D1-36D0226F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6C1AE2-ADCC-D065-B278-45E2F528D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Regressions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8E0518-2072-6AA9-54DD-916AA2B5DDCC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err="1">
                <a:solidFill>
                  <a:schemeClr val="bg1"/>
                </a:solidFill>
              </a:rPr>
              <a:t>Factor</a:t>
            </a:r>
            <a:r>
              <a:rPr lang="cs-CZ" sz="1800" b="1">
                <a:solidFill>
                  <a:schemeClr val="bg1"/>
                </a:solidFill>
              </a:rPr>
              <a:t> </a:t>
            </a:r>
            <a:r>
              <a:rPr lang="cs-CZ" sz="1800" b="1" err="1">
                <a:solidFill>
                  <a:schemeClr val="bg1"/>
                </a:solidFill>
              </a:rPr>
              <a:t>Regression</a:t>
            </a:r>
            <a:r>
              <a:rPr lang="cs-CZ" sz="1800" b="1">
                <a:solidFill>
                  <a:schemeClr val="bg1"/>
                </a:solidFill>
              </a:rPr>
              <a:t> on FF3 &amp; FF5+</a:t>
            </a:r>
            <a:r>
              <a:rPr lang="cs-CZ" b="1">
                <a:solidFill>
                  <a:schemeClr val="bg1"/>
                </a:solidFill>
              </a:rPr>
              <a:t>Momentum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65423C-93DD-53B3-1555-05934BD9FCEC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400" err="1">
                <a:solidFill>
                  <a:schemeClr val="tx1"/>
                </a:solidFill>
              </a:rPr>
              <a:t>We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regressed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all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the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factors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first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on</a:t>
            </a:r>
            <a:r>
              <a:rPr lang="hu-HU" sz="1400">
                <a:solidFill>
                  <a:schemeClr val="tx1"/>
                </a:solidFill>
              </a:rPr>
              <a:t> FF3, </a:t>
            </a:r>
            <a:r>
              <a:rPr lang="hu-HU" sz="1400" err="1">
                <a:solidFill>
                  <a:schemeClr val="tx1"/>
                </a:solidFill>
              </a:rPr>
              <a:t>then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on</a:t>
            </a:r>
            <a:r>
              <a:rPr lang="hu-HU" sz="1400">
                <a:solidFill>
                  <a:schemeClr val="tx1"/>
                </a:solidFill>
              </a:rPr>
              <a:t> FF5 + Momentum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400" err="1">
                <a:solidFill>
                  <a:schemeClr val="tx1"/>
                </a:solidFill>
              </a:rPr>
              <a:t>We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used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this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step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to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identify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factors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to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exclude</a:t>
            </a:r>
            <a:r>
              <a:rPr lang="hu-HU" sz="1400">
                <a:solidFill>
                  <a:schemeClr val="tx1"/>
                </a:solidFill>
              </a:rPr>
              <a:t> (</a:t>
            </a:r>
            <a:r>
              <a:rPr lang="hu-HU" sz="1400" err="1">
                <a:solidFill>
                  <a:schemeClr val="tx1"/>
                </a:solidFill>
              </a:rPr>
              <a:t>e.g</a:t>
            </a:r>
            <a:r>
              <a:rPr lang="hu-HU" sz="1400">
                <a:solidFill>
                  <a:schemeClr val="tx1"/>
                </a:solidFill>
              </a:rPr>
              <a:t>., </a:t>
            </a:r>
            <a:r>
              <a:rPr lang="hu-HU" sz="1400" err="1">
                <a:solidFill>
                  <a:schemeClr val="tx1"/>
                </a:solidFill>
              </a:rPr>
              <a:t>insignificant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alpha</a:t>
            </a:r>
            <a:r>
              <a:rPr lang="hu-HU" sz="1400">
                <a:solidFill>
                  <a:schemeClr val="tx1"/>
                </a:solidFill>
              </a:rPr>
              <a:t>, </a:t>
            </a:r>
            <a:r>
              <a:rPr lang="hu-HU" sz="1400" err="1">
                <a:solidFill>
                  <a:schemeClr val="tx1"/>
                </a:solidFill>
              </a:rPr>
              <a:t>beta</a:t>
            </a:r>
            <a:r>
              <a:rPr lang="hu-HU" sz="1400">
                <a:solidFill>
                  <a:schemeClr val="tx1"/>
                </a:solidFill>
              </a:rPr>
              <a:t> of </a:t>
            </a:r>
            <a:r>
              <a:rPr lang="hu-HU" sz="1400" err="1">
                <a:solidFill>
                  <a:schemeClr val="tx1"/>
                </a:solidFill>
              </a:rPr>
              <a:t>approx</a:t>
            </a:r>
            <a:r>
              <a:rPr lang="hu-HU" sz="1400">
                <a:solidFill>
                  <a:schemeClr val="tx1"/>
                </a:solidFill>
              </a:rPr>
              <a:t>. 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400" err="1">
                <a:solidFill>
                  <a:schemeClr val="tx1"/>
                </a:solidFill>
              </a:rPr>
              <a:t>This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will</a:t>
            </a:r>
            <a:r>
              <a:rPr lang="hu-HU" sz="1400">
                <a:solidFill>
                  <a:schemeClr val="tx1"/>
                </a:solidFill>
              </a:rPr>
              <a:t> be </a:t>
            </a:r>
            <a:r>
              <a:rPr lang="hu-HU" sz="1400" err="1">
                <a:solidFill>
                  <a:schemeClr val="tx1"/>
                </a:solidFill>
              </a:rPr>
              <a:t>shown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better</a:t>
            </a:r>
            <a:r>
              <a:rPr lang="hu-HU" sz="1400">
                <a:solidFill>
                  <a:schemeClr val="tx1"/>
                </a:solidFill>
              </a:rPr>
              <a:t> in </a:t>
            </a:r>
            <a:r>
              <a:rPr lang="hu-HU" sz="1400" err="1">
                <a:solidFill>
                  <a:schemeClr val="tx1"/>
                </a:solidFill>
              </a:rPr>
              <a:t>the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next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slides</a:t>
            </a:r>
            <a:r>
              <a:rPr lang="hu-HU" sz="140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58002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2F0100A9-551D-F214-2868-7A68828E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7D19FA-338C-E6E3-63B8-8CA846612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Long/</a:t>
            </a:r>
            <a:r>
              <a:rPr lang="hu-HU" err="1"/>
              <a:t>Short</a:t>
            </a:r>
            <a:r>
              <a:rPr lang="hu-HU"/>
              <a:t> Performance &amp; </a:t>
            </a:r>
            <a:r>
              <a:rPr lang="hu-HU" err="1"/>
              <a:t>Robustness</a:t>
            </a:r>
            <a:r>
              <a:rPr lang="hu-HU"/>
              <a:t> </a:t>
            </a:r>
            <a:r>
              <a:rPr lang="hu-HU" err="1"/>
              <a:t>Checks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C37232-B743-3D45-C006-35177E5D8DB8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noProof="0">
                <a:solidFill>
                  <a:schemeClr val="bg1"/>
                </a:solidFill>
              </a:rPr>
              <a:t>Long/</a:t>
            </a:r>
            <a:r>
              <a:rPr lang="cs-CZ" b="1" noProof="0" err="1">
                <a:solidFill>
                  <a:schemeClr val="bg1"/>
                </a:solidFill>
              </a:rPr>
              <a:t>Short</a:t>
            </a:r>
            <a:r>
              <a:rPr lang="cs-CZ" b="1" noProof="0">
                <a:solidFill>
                  <a:schemeClr val="bg1"/>
                </a:solidFill>
              </a:rPr>
              <a:t> Performance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18BB92C9-1DEB-20C8-4210-46C8F9FD792C}"/>
              </a:ext>
            </a:extLst>
          </p:cNvPr>
          <p:cNvSpPr/>
          <p:nvPr/>
        </p:nvSpPr>
        <p:spPr>
          <a:xfrm>
            <a:off x="391886" y="5978147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Most of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the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performance of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the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strategy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comes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from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the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long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leg</a:t>
            </a:r>
            <a:endParaRPr lang="de-AT">
              <a:solidFill>
                <a:schemeClr val="bg1"/>
              </a:solidFill>
            </a:endParaRPr>
          </a:p>
        </p:txBody>
      </p:sp>
      <p:pic>
        <p:nvPicPr>
          <p:cNvPr id="3" name="Immagine 2" descr="Immagine che contiene testo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F69392D7-F6F2-A1FA-2A1B-9F4C4B816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124" y="1619884"/>
            <a:ext cx="5635752" cy="435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23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9ED3C4-68BF-1DAA-B0F9-23AF7A0499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Long/</a:t>
            </a:r>
            <a:r>
              <a:rPr kumimoji="0" lang="hu-HU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Short</a:t>
            </a:r>
            <a:r>
              <a:rPr kumimoji="0" lang="hu-H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Performance &amp; </a:t>
            </a:r>
            <a:r>
              <a:rPr kumimoji="0" lang="hu-HU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Robustness</a:t>
            </a:r>
            <a:r>
              <a:rPr kumimoji="0" lang="hu-H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</a:t>
            </a:r>
            <a:r>
              <a:rPr kumimoji="0" lang="hu-HU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Checks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70787C-8A2E-6922-B5E9-26742695DA97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noProof="0" err="1">
                <a:solidFill>
                  <a:schemeClr val="bg1"/>
                </a:solidFill>
              </a:rPr>
              <a:t>Clustering</a:t>
            </a:r>
            <a:r>
              <a:rPr lang="cs-CZ" b="1" noProof="0">
                <a:solidFill>
                  <a:schemeClr val="bg1"/>
                </a:solidFill>
              </a:rPr>
              <a:t> Performance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2231F2-25F5-9016-BA5F-72EAAB7C4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49852"/>
              </p:ext>
            </p:extLst>
          </p:nvPr>
        </p:nvGraphicFramePr>
        <p:xfrm>
          <a:off x="603551" y="1512750"/>
          <a:ext cx="11046581" cy="5005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9729">
                  <a:extLst>
                    <a:ext uri="{9D8B030D-6E8A-4147-A177-3AD203B41FA5}">
                      <a16:colId xmlns:a16="http://schemas.microsoft.com/office/drawing/2014/main" val="3133115490"/>
                    </a:ext>
                  </a:extLst>
                </a:gridCol>
                <a:gridCol w="1449864">
                  <a:extLst>
                    <a:ext uri="{9D8B030D-6E8A-4147-A177-3AD203B41FA5}">
                      <a16:colId xmlns:a16="http://schemas.microsoft.com/office/drawing/2014/main" val="1529462739"/>
                    </a:ext>
                  </a:extLst>
                </a:gridCol>
                <a:gridCol w="4176988">
                  <a:extLst>
                    <a:ext uri="{9D8B030D-6E8A-4147-A177-3AD203B41FA5}">
                      <a16:colId xmlns:a16="http://schemas.microsoft.com/office/drawing/2014/main" val="175573102"/>
                    </a:ext>
                  </a:extLst>
                </a:gridCol>
              </a:tblGrid>
              <a:tr h="520758">
                <a:tc>
                  <a:txBody>
                    <a:bodyPr/>
                    <a:lstStyle/>
                    <a:p>
                      <a:r>
                        <a:rPr lang="en-US"/>
                        <a:t>Cluster 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2911"/>
                  </a:ext>
                </a:extLst>
              </a:tr>
              <a:tr h="7704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Size / Microstructure / Trading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Size_SMB, </a:t>
                      </a:r>
                      <a:r>
                        <a:rPr lang="en-US" sz="1200" err="1"/>
                        <a:t>Long_Term_Reversals_LTREV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Quality_Minus_Junk_QMJ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Amihud_Illiquidity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Nominal_Price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High_Volume_Premium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851496"/>
                  </a:ext>
                </a:extLst>
              </a:tr>
              <a:tr h="984447">
                <a:tc>
                  <a:txBody>
                    <a:bodyPr/>
                    <a:lstStyle/>
                    <a:p>
                      <a:r>
                        <a:rPr lang="en-US"/>
                        <a:t>Valuation &amp; Investment 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Book_to_Market_HML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Asset_Growth_CMA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Cash_Flow_to_Price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Earnings_to_Price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Enterprise_Multiple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Sales_to_Price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Growth_in_Inventory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Sales_Growth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CAPX_Growth_Rate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Leverage_Factor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Altman_Z_Score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278608"/>
                  </a:ext>
                </a:extLst>
              </a:tr>
              <a:tr h="1198457">
                <a:tc>
                  <a:txBody>
                    <a:bodyPr/>
                    <a:lstStyle/>
                    <a:p>
                      <a:r>
                        <a:rPr lang="en-US"/>
                        <a:t>Quality &amp; Earnings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Operating_Profitability_RMW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Gross_Profitability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Return_on_Equity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Return_on_Assets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Change_in_Asset_Turnover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Accruals_Factor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Net_Working_Capital_Changes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Debt_Issuance_Factor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Ohlson_O_Score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859354"/>
                  </a:ext>
                </a:extLst>
              </a:tr>
              <a:tr h="770437">
                <a:tc>
                  <a:txBody>
                    <a:bodyPr/>
                    <a:lstStyle/>
                    <a:p>
                      <a:r>
                        <a:rPr lang="en-US"/>
                        <a:t>Low-Risk &amp; Financing / Lifecycle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Residual_Variance_RVAR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Low_Beta_BAB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Firm_Age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Profit_Margin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One_Year_Share_Issuance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Total_External_Financing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Piotroski_F_Score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70570"/>
                  </a:ext>
                </a:extLst>
              </a:tr>
              <a:tr h="556427">
                <a:tc>
                  <a:txBody>
                    <a:bodyPr/>
                    <a:lstStyle/>
                    <a:p>
                      <a:r>
                        <a:rPr lang="en-US"/>
                        <a:t>Asset Expansion (NOA)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Net_Operating_Assets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Growth_in_Sales_Inventory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Abnormal_Investment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503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314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F8A4-E62A-4FEE-FCA6-A175E3FDF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3AB52D-7FD5-F30C-7B0F-6935A9AACA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Long/</a:t>
            </a:r>
            <a:r>
              <a:rPr kumimoji="0" lang="hu-HU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Short</a:t>
            </a:r>
            <a:r>
              <a:rPr kumimoji="0" lang="hu-H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Performance &amp; </a:t>
            </a:r>
            <a:r>
              <a:rPr kumimoji="0" lang="hu-HU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Robustness</a:t>
            </a:r>
            <a:r>
              <a:rPr kumimoji="0" lang="hu-H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</a:t>
            </a:r>
            <a:r>
              <a:rPr kumimoji="0" lang="hu-HU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Checks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AFA3DD-191E-1BF3-6647-60356C5D2F5C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noProof="0" err="1">
                <a:solidFill>
                  <a:schemeClr val="bg1"/>
                </a:solidFill>
              </a:rPr>
              <a:t>Clustering</a:t>
            </a:r>
            <a:r>
              <a:rPr lang="cs-CZ" b="1" noProof="0">
                <a:solidFill>
                  <a:schemeClr val="bg1"/>
                </a:solidFill>
              </a:rPr>
              <a:t> Performance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15097FAD-A482-96A5-7605-7107047410A1}"/>
              </a:ext>
            </a:extLst>
          </p:cNvPr>
          <p:cNvSpPr/>
          <p:nvPr/>
        </p:nvSpPr>
        <p:spPr>
          <a:xfrm>
            <a:off x="391886" y="6085726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see</a:t>
            </a:r>
            <a:r>
              <a:rPr lang="it-IT"/>
              <a:t> </a:t>
            </a:r>
            <a:r>
              <a:rPr lang="en-US"/>
              <a:t>Valuation &amp; Investment Intensity being the main driver </a:t>
            </a:r>
          </a:p>
          <a:p>
            <a:pPr algn="ctr"/>
            <a:endParaRPr lang="it-IT"/>
          </a:p>
        </p:txBody>
      </p:sp>
      <p:pic>
        <p:nvPicPr>
          <p:cNvPr id="5" name="Immagine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F9A606A8-90FC-B703-1CE2-D72AF20D8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064" y="1550161"/>
            <a:ext cx="5721096" cy="442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206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017CB84E-9EEE-01A6-D993-7D9D58BC6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F4111C-E2DE-4A1C-3B1C-1FC10AFECF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Long/Short Performance &amp; Robustness Checks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8CA53-AA48-A242-FD2B-EE97628FEFDC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err="1">
                <a:solidFill>
                  <a:schemeClr val="bg1"/>
                </a:solidFill>
              </a:rPr>
              <a:t>Lagging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3046A7-4A8C-602F-7E18-28B733CEB611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hu-HU" sz="140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D19504-4158-0EAC-71ED-4E1D2C2A2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170" y="1458048"/>
            <a:ext cx="7655659" cy="4503327"/>
          </a:xfrm>
          <a:prstGeom prst="rect">
            <a:avLst/>
          </a:prstGeom>
        </p:spPr>
      </p:pic>
      <p:sp>
        <p:nvSpPr>
          <p:cNvPr id="6" name="Rectangle 10">
            <a:extLst>
              <a:ext uri="{FF2B5EF4-FFF2-40B4-BE49-F238E27FC236}">
                <a16:creationId xmlns:a16="http://schemas.microsoft.com/office/drawing/2014/main" id="{2947C342-AF08-B533-D3E5-CB5C266324FF}"/>
              </a:ext>
            </a:extLst>
          </p:cNvPr>
          <p:cNvSpPr/>
          <p:nvPr/>
        </p:nvSpPr>
        <p:spPr>
          <a:xfrm>
            <a:off x="391886" y="6085726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Once </a:t>
            </a:r>
            <a:r>
              <a:rPr lang="it-IT" err="1"/>
              <a:t>we</a:t>
            </a:r>
            <a:r>
              <a:rPr lang="it-IT"/>
              <a:t> lag 1 </a:t>
            </a:r>
            <a:r>
              <a:rPr lang="it-IT" err="1"/>
              <a:t>month</a:t>
            </a:r>
            <a:r>
              <a:rPr lang="it-IT"/>
              <a:t> the </a:t>
            </a:r>
            <a:r>
              <a:rPr lang="it-IT" err="1"/>
              <a:t>outperformance</a:t>
            </a:r>
            <a:r>
              <a:rPr lang="it-IT"/>
              <a:t> of the </a:t>
            </a:r>
            <a:r>
              <a:rPr lang="it-IT" err="1"/>
              <a:t>factor</a:t>
            </a:r>
            <a:r>
              <a:rPr lang="it-IT"/>
              <a:t> </a:t>
            </a:r>
            <a:r>
              <a:rPr lang="it-IT" err="1"/>
              <a:t>momentum</a:t>
            </a:r>
            <a:r>
              <a:rPr lang="it-IT"/>
              <a:t> strategy </a:t>
            </a:r>
            <a:r>
              <a:rPr lang="it-IT" err="1"/>
              <a:t>disappears</a:t>
            </a:r>
            <a:r>
              <a:rPr lang="it-IT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37423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2E7F6812-637C-70A2-9A23-61522841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58DEC97-CD04-7E0F-9E63-BAAF69CE2C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Long/Short Performance &amp; Robustness Checks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D7CD32-B5DA-F815-C66F-F150CB72ABD3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>
                <a:solidFill>
                  <a:schemeClr val="bg1"/>
                </a:solidFill>
              </a:rPr>
              <a:t>Performance </a:t>
            </a:r>
            <a:r>
              <a:rPr lang="cs-CZ" sz="1800" b="1" err="1">
                <a:solidFill>
                  <a:schemeClr val="bg1"/>
                </a:solidFill>
              </a:rPr>
              <a:t>during</a:t>
            </a:r>
            <a:r>
              <a:rPr lang="cs-CZ" sz="1800" b="1">
                <a:solidFill>
                  <a:schemeClr val="bg1"/>
                </a:solidFill>
              </a:rPr>
              <a:t> </a:t>
            </a:r>
            <a:r>
              <a:rPr lang="cs-CZ" sz="1800" b="1" err="1">
                <a:solidFill>
                  <a:schemeClr val="bg1"/>
                </a:solidFill>
              </a:rPr>
              <a:t>Crises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B45EB1-BB2C-367A-5711-3D768F4B4632}"/>
              </a:ext>
            </a:extLst>
          </p:cNvPr>
          <p:cNvSpPr/>
          <p:nvPr/>
        </p:nvSpPr>
        <p:spPr>
          <a:xfrm>
            <a:off x="391886" y="5978147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The </a:t>
            </a:r>
            <a:r>
              <a:rPr lang="it-IT" err="1"/>
              <a:t>Factor</a:t>
            </a:r>
            <a:r>
              <a:rPr lang="it-IT"/>
              <a:t> Momentum Strategy acts </a:t>
            </a:r>
            <a:r>
              <a:rPr lang="it-IT" err="1"/>
              <a:t>as</a:t>
            </a:r>
            <a:r>
              <a:rPr lang="it-IT"/>
              <a:t> a </a:t>
            </a:r>
            <a:r>
              <a:rPr lang="it-IT" err="1"/>
              <a:t>powerful</a:t>
            </a:r>
            <a:r>
              <a:rPr lang="it-IT"/>
              <a:t> </a:t>
            </a:r>
            <a:r>
              <a:rPr lang="it-IT" err="1"/>
              <a:t>diversification</a:t>
            </a:r>
            <a:r>
              <a:rPr lang="it-IT"/>
              <a:t> tool, </a:t>
            </a:r>
            <a:r>
              <a:rPr lang="it-IT" err="1"/>
              <a:t>especially</a:t>
            </a:r>
            <a:r>
              <a:rPr lang="it-IT"/>
              <a:t> </a:t>
            </a:r>
            <a:r>
              <a:rPr lang="it-IT" err="1"/>
              <a:t>during</a:t>
            </a:r>
            <a:r>
              <a:rPr lang="it-IT"/>
              <a:t> market </a:t>
            </a:r>
            <a:r>
              <a:rPr lang="it-IT" err="1"/>
              <a:t>crises</a:t>
            </a:r>
            <a:endParaRPr lang="de-AT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E3D3A8-6413-599A-AE80-384FCFAE717B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hu-HU" sz="1400">
              <a:solidFill>
                <a:schemeClr val="tx1"/>
              </a:solidFill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E6252E98-8DCF-192E-1041-8D6B101FA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920333"/>
              </p:ext>
            </p:extLst>
          </p:nvPr>
        </p:nvGraphicFramePr>
        <p:xfrm>
          <a:off x="2032000" y="2361959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7639005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0212029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10985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err="1"/>
                        <a:t>Factor_Mom_Return</a:t>
                      </a:r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err="1"/>
                        <a:t>Market_Return</a:t>
                      </a:r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12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COVID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/>
                        <a:t>0.0801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>
                          <a:solidFill>
                            <a:srgbClr val="C00000"/>
                          </a:solidFill>
                        </a:rPr>
                        <a:t>-0.204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GFC (2007-2009)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/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>
                          <a:solidFill>
                            <a:srgbClr val="C00000"/>
                          </a:solidFill>
                        </a:rPr>
                        <a:t>-0.461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289257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9439D77A-BD1C-5B17-2DB6-EE03EB9D2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347949"/>
              </p:ext>
            </p:extLst>
          </p:nvPr>
        </p:nvGraphicFramePr>
        <p:xfrm>
          <a:off x="2031999" y="3881136"/>
          <a:ext cx="81280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84415">
                  <a:extLst>
                    <a:ext uri="{9D8B030D-6E8A-4147-A177-3AD203B41FA5}">
                      <a16:colId xmlns:a16="http://schemas.microsoft.com/office/drawing/2014/main" val="2894302239"/>
                    </a:ext>
                  </a:extLst>
                </a:gridCol>
                <a:gridCol w="2543585">
                  <a:extLst>
                    <a:ext uri="{9D8B030D-6E8A-4147-A177-3AD203B41FA5}">
                      <a16:colId xmlns:a16="http://schemas.microsoft.com/office/drawing/2014/main" val="2090315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err="1"/>
                        <a:t>Correlation</a:t>
                      </a:r>
                      <a:r>
                        <a:rPr lang="it-IT"/>
                        <a:t> in </a:t>
                      </a:r>
                      <a:r>
                        <a:rPr lang="it-IT" err="1"/>
                        <a:t>bad</a:t>
                      </a:r>
                      <a:r>
                        <a:rPr lang="it-IT"/>
                        <a:t> market </a:t>
                      </a:r>
                      <a:r>
                        <a:rPr lang="it-IT" err="1"/>
                        <a:t>months</a:t>
                      </a:r>
                      <a:r>
                        <a:rPr lang="it-IT"/>
                        <a:t> (</a:t>
                      </a:r>
                      <a:r>
                        <a:rPr lang="it-IT" err="1"/>
                        <a:t>Mkt-Rf</a:t>
                      </a:r>
                      <a:r>
                        <a:rPr lang="it-IT"/>
                        <a:t> &lt; -2%)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>
                          <a:solidFill>
                            <a:srgbClr val="C00000"/>
                          </a:solidFill>
                        </a:rPr>
                        <a:t>-0.016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055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173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B73A4C0C-6FD2-DB1C-EDDF-CCD615F7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978340-C8A9-2E4C-7E2E-B09E912C91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Long/Short Performance &amp; Robustness Checks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2BA88B-9589-9773-4D13-F4CDA8D2842B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err="1">
                <a:solidFill>
                  <a:schemeClr val="bg1"/>
                </a:solidFill>
              </a:rPr>
              <a:t>Correlation</a:t>
            </a:r>
            <a:r>
              <a:rPr lang="cs-CZ" sz="1800" b="1">
                <a:solidFill>
                  <a:schemeClr val="bg1"/>
                </a:solidFill>
              </a:rPr>
              <a:t> to 60/40 Portfolio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6ACC7C-D662-B69B-C0B3-D16A243F77C7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err="1">
                <a:solidFill>
                  <a:schemeClr val="tx1"/>
                </a:solidFill>
              </a:rPr>
              <a:t>Corr</a:t>
            </a:r>
            <a:r>
              <a:rPr lang="hu-HU" b="1">
                <a:solidFill>
                  <a:schemeClr val="tx1"/>
                </a:solidFill>
              </a:rPr>
              <a:t> = -0.034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614F5D-CEEC-8767-81CB-AA9699CD19A2}"/>
              </a:ext>
            </a:extLst>
          </p:cNvPr>
          <p:cNvSpPr/>
          <p:nvPr/>
        </p:nvSpPr>
        <p:spPr>
          <a:xfrm>
            <a:off x="391886" y="5978147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bg1"/>
                </a:solidFill>
              </a:rPr>
              <a:t>The </a:t>
            </a:r>
            <a:r>
              <a:rPr lang="hu-HU" err="1">
                <a:solidFill>
                  <a:schemeClr val="bg1"/>
                </a:solidFill>
              </a:rPr>
              <a:t>strategy</a:t>
            </a:r>
            <a:r>
              <a:rPr lang="hu-HU">
                <a:solidFill>
                  <a:schemeClr val="bg1"/>
                </a:solidFill>
              </a:rPr>
              <a:t> </a:t>
            </a:r>
            <a:r>
              <a:rPr lang="hu-HU" err="1">
                <a:solidFill>
                  <a:schemeClr val="bg1"/>
                </a:solidFill>
              </a:rPr>
              <a:t>provides</a:t>
            </a:r>
            <a:r>
              <a:rPr lang="hu-HU">
                <a:solidFill>
                  <a:schemeClr val="bg1"/>
                </a:solidFill>
              </a:rPr>
              <a:t> </a:t>
            </a:r>
            <a:r>
              <a:rPr lang="hu-HU" err="1">
                <a:solidFill>
                  <a:schemeClr val="bg1"/>
                </a:solidFill>
              </a:rPr>
              <a:t>diversification</a:t>
            </a:r>
            <a:r>
              <a:rPr lang="hu-HU">
                <a:solidFill>
                  <a:schemeClr val="bg1"/>
                </a:solidFill>
              </a:rPr>
              <a:t> </a:t>
            </a:r>
            <a:r>
              <a:rPr lang="hu-HU" err="1">
                <a:solidFill>
                  <a:schemeClr val="bg1"/>
                </a:solidFill>
              </a:rPr>
              <a:t>benefits</a:t>
            </a:r>
            <a:r>
              <a:rPr lang="hu-HU">
                <a:solidFill>
                  <a:schemeClr val="bg1"/>
                </a:solidFill>
              </a:rPr>
              <a:t> and </a:t>
            </a:r>
            <a:r>
              <a:rPr lang="hu-HU" err="1">
                <a:solidFill>
                  <a:schemeClr val="bg1"/>
                </a:solidFill>
              </a:rPr>
              <a:t>reduces</a:t>
            </a:r>
            <a:r>
              <a:rPr lang="hu-HU">
                <a:solidFill>
                  <a:schemeClr val="bg1"/>
                </a:solidFill>
              </a:rPr>
              <a:t> </a:t>
            </a:r>
            <a:r>
              <a:rPr lang="hu-HU" err="1">
                <a:solidFill>
                  <a:schemeClr val="bg1"/>
                </a:solidFill>
              </a:rPr>
              <a:t>dependence</a:t>
            </a:r>
            <a:r>
              <a:rPr lang="hu-HU">
                <a:solidFill>
                  <a:schemeClr val="bg1"/>
                </a:solidFill>
              </a:rPr>
              <a:t> </a:t>
            </a:r>
            <a:r>
              <a:rPr lang="hu-HU" err="1">
                <a:solidFill>
                  <a:schemeClr val="bg1"/>
                </a:solidFill>
              </a:rPr>
              <a:t>on</a:t>
            </a:r>
            <a:r>
              <a:rPr lang="hu-HU">
                <a:solidFill>
                  <a:schemeClr val="bg1"/>
                </a:solidFill>
              </a:rPr>
              <a:t> </a:t>
            </a:r>
            <a:r>
              <a:rPr lang="hu-HU" err="1">
                <a:solidFill>
                  <a:schemeClr val="bg1"/>
                </a:solidFill>
              </a:rPr>
              <a:t>traditional</a:t>
            </a:r>
            <a:r>
              <a:rPr lang="hu-HU">
                <a:solidFill>
                  <a:schemeClr val="bg1"/>
                </a:solidFill>
              </a:rPr>
              <a:t> </a:t>
            </a:r>
            <a:r>
              <a:rPr lang="hu-HU" err="1">
                <a:solidFill>
                  <a:schemeClr val="bg1"/>
                </a:solidFill>
              </a:rPr>
              <a:t>risk</a:t>
            </a:r>
            <a:r>
              <a:rPr lang="hu-HU">
                <a:solidFill>
                  <a:schemeClr val="bg1"/>
                </a:solidFill>
              </a:rPr>
              <a:t> </a:t>
            </a:r>
            <a:r>
              <a:rPr lang="hu-HU" err="1">
                <a:solidFill>
                  <a:schemeClr val="bg1"/>
                </a:solidFill>
              </a:rPr>
              <a:t>premia</a:t>
            </a:r>
            <a:r>
              <a:rPr lang="hu-HU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3474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491916AB-73A5-82B0-47A3-7B31C2F8D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C926A9-CF88-6826-9379-50991FD68B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Long/Short Performance &amp; Robustness Checks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1B8F0E-EE63-8F77-1D91-301B2172C21F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err="1">
                <a:solidFill>
                  <a:schemeClr val="bg1"/>
                </a:solidFill>
              </a:rPr>
              <a:t>Change</a:t>
            </a:r>
            <a:r>
              <a:rPr lang="cs-CZ" sz="1800" b="1">
                <a:solidFill>
                  <a:schemeClr val="bg1"/>
                </a:solidFill>
              </a:rPr>
              <a:t> </a:t>
            </a:r>
            <a:r>
              <a:rPr lang="cs-CZ" sz="1800" b="1" err="1">
                <a:solidFill>
                  <a:schemeClr val="bg1"/>
                </a:solidFill>
              </a:rPr>
              <a:t>of</a:t>
            </a:r>
            <a:r>
              <a:rPr lang="cs-CZ" sz="1800" b="1">
                <a:solidFill>
                  <a:schemeClr val="bg1"/>
                </a:solidFill>
              </a:rPr>
              <a:t> </a:t>
            </a:r>
            <a:r>
              <a:rPr lang="cs-CZ" sz="1800" b="1" err="1">
                <a:solidFill>
                  <a:schemeClr val="bg1"/>
                </a:solidFill>
              </a:rPr>
              <a:t>Momentum</a:t>
            </a:r>
            <a:r>
              <a:rPr lang="cs-CZ" sz="1800" b="1">
                <a:solidFill>
                  <a:schemeClr val="bg1"/>
                </a:solidFill>
              </a:rPr>
              <a:t> </a:t>
            </a:r>
            <a:r>
              <a:rPr lang="cs-CZ" sz="1800" b="1" err="1">
                <a:solidFill>
                  <a:schemeClr val="bg1"/>
                </a:solidFill>
              </a:rPr>
              <a:t>Definition</a:t>
            </a:r>
            <a:r>
              <a:rPr lang="cs-CZ" sz="1800" b="1">
                <a:solidFill>
                  <a:schemeClr val="bg1"/>
                </a:solidFill>
              </a:rPr>
              <a:t> (Long top 25%, </a:t>
            </a:r>
            <a:r>
              <a:rPr lang="cs-CZ" sz="1800" b="1" err="1">
                <a:solidFill>
                  <a:schemeClr val="bg1"/>
                </a:solidFill>
              </a:rPr>
              <a:t>Short</a:t>
            </a:r>
            <a:r>
              <a:rPr lang="cs-CZ" sz="1800" b="1">
                <a:solidFill>
                  <a:schemeClr val="bg1"/>
                </a:solidFill>
              </a:rPr>
              <a:t> </a:t>
            </a:r>
            <a:r>
              <a:rPr lang="cs-CZ" sz="1800" b="1" err="1">
                <a:solidFill>
                  <a:schemeClr val="bg1"/>
                </a:solidFill>
              </a:rPr>
              <a:t>bottom</a:t>
            </a:r>
            <a:r>
              <a:rPr lang="cs-CZ" sz="1800" b="1">
                <a:solidFill>
                  <a:schemeClr val="bg1"/>
                </a:solidFill>
              </a:rPr>
              <a:t> 25%)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78BD2-A1C0-E474-E596-BB79C246A7F8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hu-HU" sz="1400">
              <a:solidFill>
                <a:schemeClr val="tx1"/>
              </a:solidFill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18B82D8-DF2F-B166-2896-19AEFBE523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2165195"/>
            <a:ext cx="1416205" cy="141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74D8D4A8-BAFD-CA79-2D5C-B680D34D7C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3438F8-FA7F-D3C3-F990-9F2A1A3AA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82" y="1404258"/>
            <a:ext cx="9373911" cy="508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42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79103618-6576-4B46-AE29-29E0BDDB8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69EA99-5A14-1D0B-472B-96118E1D1B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Selected factor performance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7A119F-AFBF-0916-D8AC-C12046576BD4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noProof="0" err="1">
                <a:solidFill>
                  <a:schemeClr val="bg1"/>
                </a:solidFill>
              </a:rPr>
              <a:t>Factor</a:t>
            </a:r>
            <a:r>
              <a:rPr lang="cs-CZ" b="1" noProof="0">
                <a:solidFill>
                  <a:schemeClr val="bg1"/>
                </a:solidFill>
              </a:rPr>
              <a:t> </a:t>
            </a:r>
            <a:r>
              <a:rPr lang="cs-CZ" b="1" noProof="0" err="1">
                <a:solidFill>
                  <a:schemeClr val="bg1"/>
                </a:solidFill>
              </a:rPr>
              <a:t>selection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0B6154-19D5-94BF-1B66-4CD91039A216}"/>
              </a:ext>
            </a:extLst>
          </p:cNvPr>
          <p:cNvSpPr/>
          <p:nvPr/>
        </p:nvSpPr>
        <p:spPr>
          <a:xfrm>
            <a:off x="391886" y="1748308"/>
            <a:ext cx="5255879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u-HU" sz="1400" err="1">
                <a:solidFill>
                  <a:schemeClr val="tx1"/>
                </a:solidFill>
              </a:rPr>
              <a:t>Selection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Criteria</a:t>
            </a:r>
            <a:r>
              <a:rPr lang="hu-HU" sz="1400">
                <a:solidFill>
                  <a:schemeClr val="tx1"/>
                </a:solidFill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400" b="1" err="1">
                <a:solidFill>
                  <a:schemeClr val="tx1"/>
                </a:solidFill>
              </a:rPr>
              <a:t>Statistical</a:t>
            </a:r>
            <a:r>
              <a:rPr lang="hu-HU" sz="1400" b="1">
                <a:solidFill>
                  <a:schemeClr val="tx1"/>
                </a:solidFill>
              </a:rPr>
              <a:t> </a:t>
            </a:r>
            <a:r>
              <a:rPr lang="hu-HU" sz="1400" b="1" err="1">
                <a:solidFill>
                  <a:schemeClr val="tx1"/>
                </a:solidFill>
              </a:rPr>
              <a:t>Significance</a:t>
            </a:r>
            <a:r>
              <a:rPr lang="hu-HU" sz="1400">
                <a:solidFill>
                  <a:schemeClr val="tx1"/>
                </a:solidFill>
              </a:rPr>
              <a:t>: </a:t>
            </a:r>
            <a:r>
              <a:rPr lang="hu-HU" sz="1400" err="1">
                <a:solidFill>
                  <a:schemeClr val="tx1"/>
                </a:solidFill>
              </a:rPr>
              <a:t>keep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factors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with</a:t>
            </a:r>
            <a:r>
              <a:rPr lang="hu-HU" sz="1400">
                <a:solidFill>
                  <a:schemeClr val="tx1"/>
                </a:solidFill>
              </a:rPr>
              <a:t> a </a:t>
            </a:r>
            <a:r>
              <a:rPr lang="hu-HU" sz="1400" err="1">
                <a:solidFill>
                  <a:schemeClr val="tx1"/>
                </a:solidFill>
              </a:rPr>
              <a:t>significant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alpha</a:t>
            </a:r>
            <a:r>
              <a:rPr lang="hu-HU" sz="1400">
                <a:solidFill>
                  <a:schemeClr val="tx1"/>
                </a:solidFill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400" b="1" err="1">
                <a:solidFill>
                  <a:schemeClr val="tx1"/>
                </a:solidFill>
              </a:rPr>
              <a:t>Thematic</a:t>
            </a:r>
            <a:r>
              <a:rPr lang="hu-HU" sz="1400" b="1">
                <a:solidFill>
                  <a:schemeClr val="tx1"/>
                </a:solidFill>
              </a:rPr>
              <a:t> </a:t>
            </a:r>
            <a:r>
              <a:rPr lang="hu-HU" sz="1400" b="1" err="1">
                <a:solidFill>
                  <a:schemeClr val="tx1"/>
                </a:solidFill>
              </a:rPr>
              <a:t>Uniqueness</a:t>
            </a:r>
            <a:r>
              <a:rPr lang="hu-HU" sz="1400">
                <a:solidFill>
                  <a:schemeClr val="tx1"/>
                </a:solidFill>
              </a:rPr>
              <a:t>: </a:t>
            </a:r>
            <a:r>
              <a:rPr lang="it-IT" sz="1400">
                <a:solidFill>
                  <a:schemeClr val="tx1"/>
                </a:solidFill>
              </a:rPr>
              <a:t>The </a:t>
            </a:r>
            <a:r>
              <a:rPr lang="it-IT" sz="1400" err="1">
                <a:solidFill>
                  <a:schemeClr val="tx1"/>
                </a:solidFill>
              </a:rPr>
              <a:t>factor</a:t>
            </a:r>
            <a:r>
              <a:rPr lang="it-IT" sz="1400">
                <a:solidFill>
                  <a:schemeClr val="tx1"/>
                </a:solidFill>
              </a:rPr>
              <a:t> must </a:t>
            </a:r>
            <a:r>
              <a:rPr lang="it-IT" sz="1400" err="1">
                <a:solidFill>
                  <a:schemeClr val="tx1"/>
                </a:solidFill>
              </a:rPr>
              <a:t>provide</a:t>
            </a:r>
            <a:r>
              <a:rPr lang="it-IT" sz="1400">
                <a:solidFill>
                  <a:schemeClr val="tx1"/>
                </a:solidFill>
              </a:rPr>
              <a:t> </a:t>
            </a:r>
            <a:r>
              <a:rPr lang="it-IT" sz="1400" err="1">
                <a:solidFill>
                  <a:schemeClr val="tx1"/>
                </a:solidFill>
              </a:rPr>
              <a:t>unique</a:t>
            </a:r>
            <a:r>
              <a:rPr lang="it-IT" sz="1400">
                <a:solidFill>
                  <a:schemeClr val="tx1"/>
                </a:solidFill>
              </a:rPr>
              <a:t> information and </a:t>
            </a:r>
            <a:r>
              <a:rPr lang="it-IT" sz="1400" err="1">
                <a:solidFill>
                  <a:schemeClr val="tx1"/>
                </a:solidFill>
              </a:rPr>
              <a:t>not</a:t>
            </a:r>
            <a:r>
              <a:rPr lang="it-IT" sz="1400">
                <a:solidFill>
                  <a:schemeClr val="tx1"/>
                </a:solidFill>
              </a:rPr>
              <a:t> be </a:t>
            </a:r>
            <a:r>
              <a:rPr lang="it-IT" sz="1400" err="1">
                <a:solidFill>
                  <a:schemeClr val="tx1"/>
                </a:solidFill>
              </a:rPr>
              <a:t>highly</a:t>
            </a:r>
            <a:r>
              <a:rPr lang="it-IT" sz="1400">
                <a:solidFill>
                  <a:schemeClr val="tx1"/>
                </a:solidFill>
              </a:rPr>
              <a:t> </a:t>
            </a:r>
            <a:r>
              <a:rPr lang="it-IT" sz="1400" err="1">
                <a:solidFill>
                  <a:schemeClr val="tx1"/>
                </a:solidFill>
              </a:rPr>
              <a:t>correlated</a:t>
            </a:r>
            <a:r>
              <a:rPr lang="it-IT" sz="1400">
                <a:solidFill>
                  <a:schemeClr val="tx1"/>
                </a:solidFill>
              </a:rPr>
              <a:t> with (or </a:t>
            </a:r>
            <a:r>
              <a:rPr lang="it-IT" sz="1400" err="1">
                <a:solidFill>
                  <a:schemeClr val="tx1"/>
                </a:solidFill>
              </a:rPr>
              <a:t>thematically</a:t>
            </a:r>
            <a:r>
              <a:rPr lang="it-IT" sz="1400">
                <a:solidFill>
                  <a:schemeClr val="tx1"/>
                </a:solidFill>
              </a:rPr>
              <a:t> </a:t>
            </a:r>
            <a:r>
              <a:rPr lang="it-IT" sz="1400" err="1">
                <a:solidFill>
                  <a:schemeClr val="tx1"/>
                </a:solidFill>
              </a:rPr>
              <a:t>redundant</a:t>
            </a:r>
            <a:r>
              <a:rPr lang="it-IT" sz="1400">
                <a:solidFill>
                  <a:schemeClr val="tx1"/>
                </a:solidFill>
              </a:rPr>
              <a:t> with) </a:t>
            </a:r>
            <a:r>
              <a:rPr lang="it-IT" sz="1400" err="1">
                <a:solidFill>
                  <a:schemeClr val="tx1"/>
                </a:solidFill>
              </a:rPr>
              <a:t>other</a:t>
            </a:r>
            <a:r>
              <a:rPr lang="it-IT" sz="1400">
                <a:solidFill>
                  <a:schemeClr val="tx1"/>
                </a:solidFill>
              </a:rPr>
              <a:t> </a:t>
            </a:r>
            <a:r>
              <a:rPr lang="it-IT" sz="1400" err="1">
                <a:solidFill>
                  <a:schemeClr val="tx1"/>
                </a:solidFill>
              </a:rPr>
              <a:t>selected</a:t>
            </a:r>
            <a:r>
              <a:rPr lang="it-IT" sz="1400">
                <a:solidFill>
                  <a:schemeClr val="tx1"/>
                </a:solidFill>
              </a:rPr>
              <a:t> </a:t>
            </a:r>
            <a:r>
              <a:rPr lang="it-IT" sz="1400" err="1">
                <a:solidFill>
                  <a:schemeClr val="tx1"/>
                </a:solidFill>
              </a:rPr>
              <a:t>factors</a:t>
            </a:r>
            <a:r>
              <a:rPr lang="it-IT" sz="1400">
                <a:solidFill>
                  <a:schemeClr val="tx1"/>
                </a:solidFill>
              </a:rPr>
              <a:t>. </a:t>
            </a:r>
            <a:r>
              <a:rPr lang="it-IT" sz="1400" err="1">
                <a:solidFill>
                  <a:schemeClr val="tx1"/>
                </a:solidFill>
              </a:rPr>
              <a:t>If</a:t>
            </a:r>
            <a:r>
              <a:rPr lang="it-IT" sz="1400">
                <a:solidFill>
                  <a:schemeClr val="tx1"/>
                </a:solidFill>
              </a:rPr>
              <a:t> multiple </a:t>
            </a:r>
            <a:r>
              <a:rPr lang="it-IT" sz="1400" err="1">
                <a:solidFill>
                  <a:schemeClr val="tx1"/>
                </a:solidFill>
              </a:rPr>
              <a:t>factors</a:t>
            </a:r>
            <a:r>
              <a:rPr lang="it-IT" sz="1400">
                <a:solidFill>
                  <a:schemeClr val="tx1"/>
                </a:solidFill>
              </a:rPr>
              <a:t> </a:t>
            </a:r>
            <a:r>
              <a:rPr lang="it-IT" sz="1400" err="1">
                <a:solidFill>
                  <a:schemeClr val="tx1"/>
                </a:solidFill>
              </a:rPr>
              <a:t>represented</a:t>
            </a:r>
            <a:r>
              <a:rPr lang="it-IT" sz="1400">
                <a:solidFill>
                  <a:schemeClr val="tx1"/>
                </a:solidFill>
              </a:rPr>
              <a:t> the </a:t>
            </a:r>
            <a:r>
              <a:rPr lang="it-IT" sz="1400" err="1">
                <a:solidFill>
                  <a:schemeClr val="tx1"/>
                </a:solidFill>
              </a:rPr>
              <a:t>same</a:t>
            </a:r>
            <a:r>
              <a:rPr lang="it-IT" sz="1400">
                <a:solidFill>
                  <a:schemeClr val="tx1"/>
                </a:solidFill>
              </a:rPr>
              <a:t> </a:t>
            </a:r>
            <a:r>
              <a:rPr lang="it-IT" sz="1400" err="1">
                <a:solidFill>
                  <a:schemeClr val="tx1"/>
                </a:solidFill>
              </a:rPr>
              <a:t>theme</a:t>
            </a:r>
            <a:r>
              <a:rPr lang="it-IT" sz="1400">
                <a:solidFill>
                  <a:schemeClr val="tx1"/>
                </a:solidFill>
              </a:rPr>
              <a:t> (</a:t>
            </a:r>
            <a:r>
              <a:rPr lang="it-IT" sz="1400" err="1">
                <a:solidFill>
                  <a:schemeClr val="tx1"/>
                </a:solidFill>
              </a:rPr>
              <a:t>e.one</a:t>
            </a:r>
            <a:r>
              <a:rPr lang="it-IT" sz="1400">
                <a:solidFill>
                  <a:schemeClr val="tx1"/>
                </a:solidFill>
              </a:rPr>
              <a:t>, "Value" or "</a:t>
            </a:r>
            <a:r>
              <a:rPr lang="it-IT" sz="1400" err="1">
                <a:solidFill>
                  <a:schemeClr val="tx1"/>
                </a:solidFill>
              </a:rPr>
              <a:t>Profitability</a:t>
            </a:r>
            <a:r>
              <a:rPr lang="it-IT" sz="1400">
                <a:solidFill>
                  <a:schemeClr val="tx1"/>
                </a:solidFill>
              </a:rPr>
              <a:t>"), </a:t>
            </a:r>
            <a:r>
              <a:rPr lang="it-IT" sz="1400" err="1">
                <a:solidFill>
                  <a:schemeClr val="tx1"/>
                </a:solidFill>
              </a:rPr>
              <a:t>only</a:t>
            </a:r>
            <a:r>
              <a:rPr lang="it-IT" sz="1400">
                <a:solidFill>
                  <a:schemeClr val="tx1"/>
                </a:solidFill>
              </a:rPr>
              <a:t> one </a:t>
            </a:r>
            <a:r>
              <a:rPr lang="it-IT" sz="1400" err="1">
                <a:solidFill>
                  <a:schemeClr val="tx1"/>
                </a:solidFill>
              </a:rPr>
              <a:t>was</a:t>
            </a:r>
            <a:r>
              <a:rPr lang="it-IT" sz="1400">
                <a:solidFill>
                  <a:schemeClr val="tx1"/>
                </a:solidFill>
              </a:rPr>
              <a:t> </a:t>
            </a:r>
            <a:r>
              <a:rPr lang="it-IT" sz="1400" err="1">
                <a:solidFill>
                  <a:schemeClr val="tx1"/>
                </a:solidFill>
              </a:rPr>
              <a:t>kept</a:t>
            </a:r>
            <a:r>
              <a:rPr lang="it-IT" sz="140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err="1">
                <a:solidFill>
                  <a:schemeClr val="tx1"/>
                </a:solidFill>
              </a:rPr>
              <a:t>We</a:t>
            </a:r>
            <a:r>
              <a:rPr lang="it-IT" sz="1400">
                <a:solidFill>
                  <a:schemeClr val="tx1"/>
                </a:solidFill>
              </a:rPr>
              <a:t> </a:t>
            </a:r>
            <a:r>
              <a:rPr lang="it-IT" sz="1400" err="1">
                <a:solidFill>
                  <a:schemeClr val="tx1"/>
                </a:solidFill>
              </a:rPr>
              <a:t>also</a:t>
            </a:r>
            <a:r>
              <a:rPr lang="it-IT" sz="1400">
                <a:solidFill>
                  <a:schemeClr val="tx1"/>
                </a:solidFill>
              </a:rPr>
              <a:t> </a:t>
            </a:r>
            <a:r>
              <a:rPr lang="it-IT" sz="1400" err="1">
                <a:solidFill>
                  <a:schemeClr val="tx1"/>
                </a:solidFill>
              </a:rPr>
              <a:t>included</a:t>
            </a:r>
            <a:r>
              <a:rPr lang="it-IT" sz="1400">
                <a:solidFill>
                  <a:schemeClr val="tx1"/>
                </a:solidFill>
              </a:rPr>
              <a:t> the standard Fama French </a:t>
            </a:r>
            <a:r>
              <a:rPr lang="it-IT" sz="1400" err="1">
                <a:solidFill>
                  <a:schemeClr val="tx1"/>
                </a:solidFill>
              </a:rPr>
              <a:t>factors</a:t>
            </a:r>
            <a:r>
              <a:rPr lang="it-IT" sz="1400">
                <a:solidFill>
                  <a:schemeClr val="tx1"/>
                </a:solidFill>
              </a:rPr>
              <a:t>.</a:t>
            </a:r>
            <a:endParaRPr lang="hu-HU" sz="1400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D5601AE-3D0C-47B4-9926-F1AED26FF8C6}"/>
              </a:ext>
            </a:extLst>
          </p:cNvPr>
          <p:cNvSpPr/>
          <p:nvPr/>
        </p:nvSpPr>
        <p:spPr>
          <a:xfrm>
            <a:off x="5774597" y="1702829"/>
            <a:ext cx="5704114" cy="40094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hu-HU" sz="1400" b="1" err="1">
                <a:solidFill>
                  <a:schemeClr val="tx1"/>
                </a:solidFill>
              </a:rPr>
              <a:t>Selected</a:t>
            </a:r>
            <a:r>
              <a:rPr lang="hu-HU" sz="1400" b="1">
                <a:solidFill>
                  <a:schemeClr val="tx1"/>
                </a:solidFill>
              </a:rPr>
              <a:t> </a:t>
            </a:r>
            <a:r>
              <a:rPr lang="hu-HU" sz="1400" b="1" err="1">
                <a:solidFill>
                  <a:schemeClr val="tx1"/>
                </a:solidFill>
              </a:rPr>
              <a:t>Factors</a:t>
            </a:r>
            <a:r>
              <a:rPr lang="hu-HU" sz="1400">
                <a:solidFill>
                  <a:schemeClr val="tx1"/>
                </a:solidFill>
              </a:rPr>
              <a:t>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err="1">
                <a:solidFill>
                  <a:schemeClr val="tx1"/>
                </a:solidFill>
              </a:rPr>
              <a:t>Size_SMB</a:t>
            </a:r>
            <a:r>
              <a:rPr lang="hu-HU" sz="1400">
                <a:solidFill>
                  <a:schemeClr val="tx1"/>
                </a:solidFill>
              </a:rPr>
              <a:t> 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err="1">
                <a:solidFill>
                  <a:schemeClr val="tx1"/>
                </a:solidFill>
              </a:rPr>
              <a:t>Book_to_Market_HML</a:t>
            </a:r>
            <a:r>
              <a:rPr lang="hu-HU" sz="1400">
                <a:solidFill>
                  <a:schemeClr val="tx1"/>
                </a:solidFill>
              </a:rPr>
              <a:t> 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err="1">
                <a:solidFill>
                  <a:schemeClr val="tx1"/>
                </a:solidFill>
              </a:rPr>
              <a:t>Operating_Profitability_RMW</a:t>
            </a:r>
            <a:r>
              <a:rPr lang="hu-HU" sz="1400">
                <a:solidFill>
                  <a:schemeClr val="tx1"/>
                </a:solidFill>
              </a:rPr>
              <a:t> 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err="1">
                <a:solidFill>
                  <a:schemeClr val="tx1"/>
                </a:solidFill>
              </a:rPr>
              <a:t>Asset_Growth_CMA</a:t>
            </a:r>
            <a:r>
              <a:rPr lang="hu-HU" sz="1400">
                <a:solidFill>
                  <a:schemeClr val="tx1"/>
                </a:solidFill>
              </a:rPr>
              <a:t> 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err="1">
                <a:solidFill>
                  <a:schemeClr val="tx1"/>
                </a:solidFill>
              </a:rPr>
              <a:t>Long_Term_Reversals_LTREV</a:t>
            </a:r>
            <a:r>
              <a:rPr lang="hu-HU" sz="1400">
                <a:solidFill>
                  <a:schemeClr val="tx1"/>
                </a:solidFill>
              </a:rPr>
              <a:t> 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err="1">
                <a:solidFill>
                  <a:schemeClr val="tx1"/>
                </a:solidFill>
              </a:rPr>
              <a:t>Low_Beta_BAB</a:t>
            </a:r>
            <a:r>
              <a:rPr lang="hu-HU" sz="1400">
                <a:solidFill>
                  <a:schemeClr val="tx1"/>
                </a:solidFill>
              </a:rPr>
              <a:t> 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err="1">
                <a:solidFill>
                  <a:schemeClr val="tx1"/>
                </a:solidFill>
              </a:rPr>
              <a:t>Firm_Age</a:t>
            </a:r>
            <a:r>
              <a:rPr lang="hu-HU" sz="1400">
                <a:solidFill>
                  <a:schemeClr val="tx1"/>
                </a:solidFill>
              </a:rPr>
              <a:t> 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err="1">
                <a:solidFill>
                  <a:schemeClr val="tx1"/>
                </a:solidFill>
              </a:rPr>
              <a:t>Enterprise_Multiple</a:t>
            </a:r>
            <a:r>
              <a:rPr lang="hu-HU" sz="1400">
                <a:solidFill>
                  <a:schemeClr val="tx1"/>
                </a:solidFill>
              </a:rPr>
              <a:t> 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err="1">
                <a:solidFill>
                  <a:schemeClr val="tx1"/>
                </a:solidFill>
              </a:rPr>
              <a:t>Accruals_Factor</a:t>
            </a:r>
            <a:r>
              <a:rPr lang="hu-HU" sz="1400">
                <a:solidFill>
                  <a:schemeClr val="tx1"/>
                </a:solidFill>
              </a:rPr>
              <a:t> 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err="1">
                <a:solidFill>
                  <a:schemeClr val="tx1"/>
                </a:solidFill>
              </a:rPr>
              <a:t>Total_External_Financing</a:t>
            </a:r>
            <a:r>
              <a:rPr lang="hu-HU" sz="1400">
                <a:solidFill>
                  <a:schemeClr val="tx1"/>
                </a:solidFill>
              </a:rPr>
              <a:t> 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hu-HU" sz="1400" err="1">
                <a:solidFill>
                  <a:schemeClr val="tx1"/>
                </a:solidFill>
              </a:rPr>
              <a:t>Piotroski_F_Score</a:t>
            </a:r>
            <a:r>
              <a:rPr lang="hu-HU" sz="1400">
                <a:solidFill>
                  <a:schemeClr val="tx1"/>
                </a:solidFill>
              </a:rPr>
              <a:t> 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u-HU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57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FA34CE2C-CEA2-4ECB-B1D6-CE3765C30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21044E-0CDF-7DD9-5B04-B12391039D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Selected factor performance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A4A6B9-6C3E-A90F-A32C-8C855104D266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noProof="0" err="1">
                <a:solidFill>
                  <a:schemeClr val="bg1"/>
                </a:solidFill>
              </a:rPr>
              <a:t>Selected</a:t>
            </a:r>
            <a:r>
              <a:rPr lang="cs-CZ" b="1" noProof="0">
                <a:solidFill>
                  <a:schemeClr val="bg1"/>
                </a:solidFill>
              </a:rPr>
              <a:t> </a:t>
            </a:r>
            <a:r>
              <a:rPr lang="cs-CZ" b="1" noProof="0" err="1">
                <a:solidFill>
                  <a:schemeClr val="bg1"/>
                </a:solidFill>
              </a:rPr>
              <a:t>factors</a:t>
            </a:r>
            <a:r>
              <a:rPr lang="cs-CZ" b="1" noProof="0">
                <a:solidFill>
                  <a:schemeClr val="bg1"/>
                </a:solidFill>
              </a:rPr>
              <a:t> vs. </a:t>
            </a:r>
            <a:r>
              <a:rPr lang="cs-CZ" b="1" noProof="0" err="1">
                <a:solidFill>
                  <a:schemeClr val="bg1"/>
                </a:solidFill>
              </a:rPr>
              <a:t>all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905D64-BB62-F4E6-7719-138765FFE409}"/>
              </a:ext>
            </a:extLst>
          </p:cNvPr>
          <p:cNvSpPr/>
          <p:nvPr/>
        </p:nvSpPr>
        <p:spPr>
          <a:xfrm>
            <a:off x="391886" y="5978147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Warning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: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once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w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e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use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a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volatility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scaled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strategy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,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the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selected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factors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underperform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the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other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two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.</a:t>
            </a:r>
            <a:endParaRPr lang="de-AT">
              <a:solidFill>
                <a:schemeClr val="bg1"/>
              </a:solidFill>
            </a:endParaRPr>
          </a:p>
        </p:txBody>
      </p:sp>
      <p:pic>
        <p:nvPicPr>
          <p:cNvPr id="5" name="Immagine 4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6AFA498D-692A-CAC9-93B9-73D730B31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656" y="1503325"/>
            <a:ext cx="6653679" cy="413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38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946CB15C-27D5-5470-A978-E9D5B9F1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9FF5E2-EC43-9375-83EA-BF3DF49CEB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Selected factor performance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EBF573-2488-9440-85DD-1F71E0031B27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noProof="0" err="1">
                <a:solidFill>
                  <a:schemeClr val="bg1"/>
                </a:solidFill>
              </a:rPr>
              <a:t>Selected</a:t>
            </a:r>
            <a:r>
              <a:rPr lang="cs-CZ" b="1" noProof="0">
                <a:solidFill>
                  <a:schemeClr val="bg1"/>
                </a:solidFill>
              </a:rPr>
              <a:t> </a:t>
            </a:r>
            <a:r>
              <a:rPr lang="cs-CZ" b="1" noProof="0" err="1">
                <a:solidFill>
                  <a:schemeClr val="bg1"/>
                </a:solidFill>
              </a:rPr>
              <a:t>factors</a:t>
            </a:r>
            <a:r>
              <a:rPr lang="cs-CZ" b="1" noProof="0">
                <a:solidFill>
                  <a:schemeClr val="bg1"/>
                </a:solidFill>
              </a:rPr>
              <a:t> vs. </a:t>
            </a:r>
            <a:r>
              <a:rPr lang="cs-CZ" b="1" noProof="0" err="1">
                <a:solidFill>
                  <a:schemeClr val="bg1"/>
                </a:solidFill>
              </a:rPr>
              <a:t>all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42EB70-0329-8300-BB22-1B2196348F44}"/>
              </a:ext>
            </a:extLst>
          </p:cNvPr>
          <p:cNvSpPr/>
          <p:nvPr/>
        </p:nvSpPr>
        <p:spPr>
          <a:xfrm>
            <a:off x="391886" y="5978147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Warning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: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once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w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e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use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a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volatility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scaled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strategy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,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the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selected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factors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underperform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the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other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err="1">
                <a:solidFill>
                  <a:schemeClr val="bg1"/>
                </a:solidFill>
                <a:sym typeface="Wingdings" pitchFamily="2" charset="2"/>
              </a:rPr>
              <a:t>two</a:t>
            </a:r>
            <a:r>
              <a:rPr lang="hu-HU">
                <a:solidFill>
                  <a:schemeClr val="bg1"/>
                </a:solidFill>
                <a:sym typeface="Wingdings" pitchFamily="2" charset="2"/>
              </a:rPr>
              <a:t>.</a:t>
            </a:r>
            <a:endParaRPr lang="de-AT">
              <a:solidFill>
                <a:schemeClr val="bg1"/>
              </a:solidFill>
            </a:endParaRPr>
          </a:p>
        </p:txBody>
      </p:sp>
      <p:pic>
        <p:nvPicPr>
          <p:cNvPr id="3" name="Immagine 2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21462A40-322E-C7BE-4381-56FB587008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007" y="1554482"/>
            <a:ext cx="6825986" cy="426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03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55B4CCD8-EDA8-0163-95D5-9EED3195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C3395B-638D-E2D3-F729-A5FF58BF39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Selected factor performance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B32659-7569-309F-0709-F56F64E4D747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noProof="0" err="1">
                <a:solidFill>
                  <a:schemeClr val="bg1"/>
                </a:solidFill>
              </a:rPr>
              <a:t>Selected</a:t>
            </a:r>
            <a:r>
              <a:rPr lang="cs-CZ" b="1" noProof="0">
                <a:solidFill>
                  <a:schemeClr val="bg1"/>
                </a:solidFill>
              </a:rPr>
              <a:t> </a:t>
            </a:r>
            <a:r>
              <a:rPr lang="cs-CZ" b="1" noProof="0" err="1">
                <a:solidFill>
                  <a:schemeClr val="bg1"/>
                </a:solidFill>
              </a:rPr>
              <a:t>factors</a:t>
            </a:r>
            <a:r>
              <a:rPr lang="cs-CZ" b="1" noProof="0">
                <a:solidFill>
                  <a:schemeClr val="bg1"/>
                </a:solidFill>
              </a:rPr>
              <a:t> vs. </a:t>
            </a:r>
            <a:r>
              <a:rPr lang="cs-CZ" b="1" noProof="0" err="1">
                <a:solidFill>
                  <a:schemeClr val="bg1"/>
                </a:solidFill>
              </a:rPr>
              <a:t>industry</a:t>
            </a:r>
            <a:endParaRPr lang="en-GB" sz="1800" b="1" noProof="0">
              <a:solidFill>
                <a:schemeClr val="bg1"/>
              </a:solidFill>
            </a:endParaRPr>
          </a:p>
        </p:txBody>
      </p:sp>
      <p:pic>
        <p:nvPicPr>
          <p:cNvPr id="3" name="Immagine 2" descr="Immagine che contiene testo, linea, Diagramma, ricevuta&#10;&#10;Il contenuto generato dall'IA potrebbe non essere corretto.">
            <a:extLst>
              <a:ext uri="{FF2B5EF4-FFF2-40B4-BE49-F238E27FC236}">
                <a16:creationId xmlns:a16="http://schemas.microsoft.com/office/drawing/2014/main" id="{AEDE493B-040B-5346-E327-EBD936C6A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324" y="1748308"/>
            <a:ext cx="9779352" cy="422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85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21F2A36E-4A05-6018-F837-05C739661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0E1F0C-34C1-B060-F79E-38098F22AE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R-Shiny App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ACAC1-14EF-132F-D49A-4401980AAE4F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1st </a:t>
            </a:r>
            <a:r>
              <a:rPr lang="cs-CZ" sz="1800" b="1" noProof="0" err="1">
                <a:solidFill>
                  <a:schemeClr val="bg1"/>
                </a:solidFill>
              </a:rPr>
              <a:t>version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of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the</a:t>
            </a:r>
            <a:r>
              <a:rPr lang="cs-CZ" sz="1800" b="1" noProof="0">
                <a:solidFill>
                  <a:schemeClr val="bg1"/>
                </a:solidFill>
              </a:rPr>
              <a:t> R-</a:t>
            </a:r>
            <a:r>
              <a:rPr lang="cs-CZ" sz="1800" b="1" noProof="0" err="1">
                <a:solidFill>
                  <a:schemeClr val="bg1"/>
                </a:solidFill>
              </a:rPr>
              <a:t>Shiny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App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5125B0-D415-370D-64AC-CED248C2E191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>
                <a:solidFill>
                  <a:schemeClr val="tx1"/>
                </a:solidFill>
                <a:hlinkClick r:id="rId3"/>
              </a:rPr>
              <a:t>https://huggingface.co/spaces/farkastallos/Ilab_Factor_Momentum</a:t>
            </a:r>
            <a:endParaRPr lang="hu-HU" sz="1400">
              <a:solidFill>
                <a:schemeClr val="tx1"/>
              </a:solidFill>
            </a:endParaRPr>
          </a:p>
          <a:p>
            <a:endParaRPr lang="hu-HU" sz="1400">
              <a:solidFill>
                <a:schemeClr val="tx1"/>
              </a:solidFill>
            </a:endParaRPr>
          </a:p>
          <a:p>
            <a:endParaRPr lang="hu-HU" sz="1400">
              <a:solidFill>
                <a:schemeClr val="tx1"/>
              </a:solidFill>
            </a:endParaRPr>
          </a:p>
          <a:p>
            <a:r>
              <a:rPr lang="hu-HU" sz="1400" err="1">
                <a:solidFill>
                  <a:schemeClr val="tx1"/>
                </a:solidFill>
              </a:rPr>
              <a:t>Credentials</a:t>
            </a:r>
            <a:r>
              <a:rPr lang="hu-HU" sz="1400">
                <a:solidFill>
                  <a:schemeClr val="tx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>
                <a:solidFill>
                  <a:schemeClr val="tx1"/>
                </a:solidFill>
              </a:rPr>
              <a:t>User: </a:t>
            </a:r>
            <a:r>
              <a:rPr lang="hu-HU" sz="1400" err="1">
                <a:solidFill>
                  <a:schemeClr val="tx1"/>
                </a:solidFill>
              </a:rPr>
              <a:t>Ilab_member</a:t>
            </a:r>
            <a:endParaRPr lang="hu-HU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err="1">
                <a:solidFill>
                  <a:schemeClr val="tx1"/>
                </a:solidFill>
              </a:rPr>
              <a:t>Password</a:t>
            </a:r>
            <a:r>
              <a:rPr lang="hu-HU" sz="1400">
                <a:solidFill>
                  <a:schemeClr val="tx1"/>
                </a:solidFill>
              </a:rPr>
              <a:t>: Ilab_member_12_1</a:t>
            </a:r>
          </a:p>
        </p:txBody>
      </p:sp>
    </p:spTree>
    <p:extLst>
      <p:ext uri="{BB962C8B-B14F-4D97-AF65-F5344CB8AC3E}">
        <p14:creationId xmlns:p14="http://schemas.microsoft.com/office/powerpoint/2010/main" val="1818501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34E69C6B-CF46-8D3D-8F30-B85345F9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77CD60-4F28-68DE-B3AD-E6F97D02A6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err="1"/>
              <a:t>Next</a:t>
            </a:r>
            <a:r>
              <a:rPr lang="hu-HU"/>
              <a:t> </a:t>
            </a:r>
            <a:r>
              <a:rPr lang="hu-HU" err="1"/>
              <a:t>Steps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E4F77A-9416-A67E-0939-3EDAD70EF20A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Questions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07D50A-2561-8567-655F-AF9418AD496A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400" err="1">
                <a:solidFill>
                  <a:schemeClr val="tx1"/>
                </a:solidFill>
              </a:rPr>
              <a:t>Does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the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selection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criteria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for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factors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makes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sense</a:t>
            </a:r>
            <a:r>
              <a:rPr lang="hu-HU" sz="1400">
                <a:solidFill>
                  <a:schemeClr val="tx1"/>
                </a:solidFill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400" err="1">
                <a:solidFill>
                  <a:schemeClr val="tx1"/>
                </a:solidFill>
              </a:rPr>
              <a:t>When</a:t>
            </a:r>
            <a:r>
              <a:rPr lang="hu-HU" sz="1400">
                <a:solidFill>
                  <a:schemeClr val="tx1"/>
                </a:solidFill>
              </a:rPr>
              <a:t> is </a:t>
            </a:r>
            <a:r>
              <a:rPr lang="hu-HU" sz="1400" err="1">
                <a:solidFill>
                  <a:schemeClr val="tx1"/>
                </a:solidFill>
              </a:rPr>
              <a:t>our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final</a:t>
            </a:r>
            <a:r>
              <a:rPr lang="hu-HU" sz="1400">
                <a:solidFill>
                  <a:schemeClr val="tx1"/>
                </a:solidFill>
              </a:rPr>
              <a:t> </a:t>
            </a:r>
            <a:r>
              <a:rPr lang="hu-HU" sz="1400" err="1">
                <a:solidFill>
                  <a:schemeClr val="tx1"/>
                </a:solidFill>
              </a:rPr>
              <a:t>deadline</a:t>
            </a:r>
            <a:r>
              <a:rPr lang="hu-HU" sz="1400">
                <a:solidFill>
                  <a:schemeClr val="tx1"/>
                </a:solidFill>
              </a:rPr>
              <a:t>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337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/>
          <p:nvPr/>
        </p:nvSpPr>
        <p:spPr>
          <a:xfrm>
            <a:off x="716541" y="5441960"/>
            <a:ext cx="8556800" cy="253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9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</a:pPr>
            <a:br>
              <a:rPr lang="de"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50" descr="A picture containing 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6748" y="240292"/>
            <a:ext cx="624097" cy="55408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0"/>
          <p:cNvSpPr/>
          <p:nvPr/>
        </p:nvSpPr>
        <p:spPr>
          <a:xfrm flipH="1">
            <a:off x="1093405" y="1640341"/>
            <a:ext cx="9997440" cy="4878067"/>
          </a:xfrm>
          <a:custGeom>
            <a:avLst/>
            <a:gdLst/>
            <a:ahLst/>
            <a:cxnLst/>
            <a:rect l="l" t="t" r="r" b="b"/>
            <a:pathLst>
              <a:path w="9144000" h="5460523" extrusionOk="0">
                <a:moveTo>
                  <a:pt x="4436018" y="2980724"/>
                </a:moveTo>
                <a:lnTo>
                  <a:pt x="4693763" y="3242405"/>
                </a:lnTo>
                <a:cubicBezTo>
                  <a:pt x="4687415" y="3248693"/>
                  <a:pt x="4664137" y="3264719"/>
                  <a:pt x="4624354" y="3299812"/>
                </a:cubicBezTo>
                <a:cubicBezTo>
                  <a:pt x="4561716" y="3350931"/>
                  <a:pt x="4449138" y="3315838"/>
                  <a:pt x="4392848" y="3296567"/>
                </a:cubicBezTo>
                <a:lnTo>
                  <a:pt x="4376342" y="3293321"/>
                </a:lnTo>
                <a:cubicBezTo>
                  <a:pt x="4445752" y="3168972"/>
                  <a:pt x="4438980" y="2990258"/>
                  <a:pt x="4436018" y="2980724"/>
                </a:cubicBezTo>
                <a:close/>
                <a:moveTo>
                  <a:pt x="4104971" y="2297718"/>
                </a:moveTo>
                <a:cubicBezTo>
                  <a:pt x="4124827" y="2320061"/>
                  <a:pt x="4147978" y="2342404"/>
                  <a:pt x="4167834" y="2364730"/>
                </a:cubicBezTo>
                <a:cubicBezTo>
                  <a:pt x="4194301" y="2390267"/>
                  <a:pt x="4217452" y="2409415"/>
                  <a:pt x="4240623" y="2431758"/>
                </a:cubicBezTo>
                <a:cubicBezTo>
                  <a:pt x="4283630" y="2470055"/>
                  <a:pt x="4329953" y="2508352"/>
                  <a:pt x="4376276" y="2546649"/>
                </a:cubicBezTo>
                <a:cubicBezTo>
                  <a:pt x="4379592" y="2562604"/>
                  <a:pt x="4382887" y="2575364"/>
                  <a:pt x="4382887" y="2591318"/>
                </a:cubicBezTo>
                <a:cubicBezTo>
                  <a:pt x="4386203" y="2607272"/>
                  <a:pt x="4389519" y="2626421"/>
                  <a:pt x="4392815" y="2642375"/>
                </a:cubicBezTo>
                <a:lnTo>
                  <a:pt x="4396131" y="2651958"/>
                </a:lnTo>
                <a:lnTo>
                  <a:pt x="4406059" y="2651958"/>
                </a:lnTo>
                <a:cubicBezTo>
                  <a:pt x="4415987" y="2655152"/>
                  <a:pt x="4429210" y="2655152"/>
                  <a:pt x="4439138" y="2655152"/>
                </a:cubicBezTo>
                <a:cubicBezTo>
                  <a:pt x="4449066" y="2655152"/>
                  <a:pt x="4462309" y="2658330"/>
                  <a:pt x="4472237" y="2658330"/>
                </a:cubicBezTo>
                <a:cubicBezTo>
                  <a:pt x="4495388" y="2661524"/>
                  <a:pt x="4518560" y="2661524"/>
                  <a:pt x="4541711" y="2664718"/>
                </a:cubicBezTo>
                <a:cubicBezTo>
                  <a:pt x="4518560" y="2658330"/>
                  <a:pt x="4498704" y="2648764"/>
                  <a:pt x="4475533" y="2642375"/>
                </a:cubicBezTo>
                <a:cubicBezTo>
                  <a:pt x="4465605" y="2639181"/>
                  <a:pt x="4452382" y="2636004"/>
                  <a:pt x="4442454" y="2632810"/>
                </a:cubicBezTo>
                <a:cubicBezTo>
                  <a:pt x="4435842" y="2629615"/>
                  <a:pt x="4425914" y="2629615"/>
                  <a:pt x="4419303" y="2626421"/>
                </a:cubicBezTo>
                <a:cubicBezTo>
                  <a:pt x="4419303" y="2610467"/>
                  <a:pt x="4415987" y="2597707"/>
                  <a:pt x="4415987" y="2581735"/>
                </a:cubicBezTo>
                <a:cubicBezTo>
                  <a:pt x="4412671" y="2565781"/>
                  <a:pt x="4412671" y="2546632"/>
                  <a:pt x="4409375" y="2530678"/>
                </a:cubicBezTo>
                <a:lnTo>
                  <a:pt x="4409375" y="2524307"/>
                </a:lnTo>
                <a:lnTo>
                  <a:pt x="4402763" y="2521112"/>
                </a:lnTo>
                <a:cubicBezTo>
                  <a:pt x="4356440" y="2479621"/>
                  <a:pt x="4306802" y="2441324"/>
                  <a:pt x="4260479" y="2403027"/>
                </a:cubicBezTo>
                <a:cubicBezTo>
                  <a:pt x="4237328" y="2383878"/>
                  <a:pt x="4210860" y="2364730"/>
                  <a:pt x="4184373" y="2348775"/>
                </a:cubicBezTo>
                <a:cubicBezTo>
                  <a:pt x="4157906" y="2329627"/>
                  <a:pt x="4134754" y="2313672"/>
                  <a:pt x="4104971" y="2297718"/>
                </a:cubicBezTo>
                <a:close/>
                <a:moveTo>
                  <a:pt x="4336577" y="2074331"/>
                </a:moveTo>
                <a:cubicBezTo>
                  <a:pt x="4359736" y="2103048"/>
                  <a:pt x="4379589" y="2122198"/>
                  <a:pt x="4399442" y="2141349"/>
                </a:cubicBezTo>
                <a:cubicBezTo>
                  <a:pt x="4422601" y="2163682"/>
                  <a:pt x="4445760" y="2182833"/>
                  <a:pt x="4465613" y="2205183"/>
                </a:cubicBezTo>
                <a:cubicBezTo>
                  <a:pt x="4508624" y="2243467"/>
                  <a:pt x="4554942" y="2281768"/>
                  <a:pt x="4601259" y="2320069"/>
                </a:cubicBezTo>
                <a:cubicBezTo>
                  <a:pt x="4604565" y="2336019"/>
                  <a:pt x="4607870" y="2348786"/>
                  <a:pt x="4607870" y="2364736"/>
                </a:cubicBezTo>
                <a:cubicBezTo>
                  <a:pt x="4611196" y="2380703"/>
                  <a:pt x="4614501" y="2399836"/>
                  <a:pt x="4617807" y="2415803"/>
                </a:cubicBezTo>
                <a:lnTo>
                  <a:pt x="4621112" y="2425370"/>
                </a:lnTo>
                <a:lnTo>
                  <a:pt x="4631049" y="2425370"/>
                </a:lnTo>
                <a:cubicBezTo>
                  <a:pt x="4640965" y="2428570"/>
                  <a:pt x="4654207" y="2428570"/>
                  <a:pt x="4664124" y="2428570"/>
                </a:cubicBezTo>
                <a:cubicBezTo>
                  <a:pt x="4674061" y="2428570"/>
                  <a:pt x="4687283" y="2431754"/>
                  <a:pt x="4697219" y="2431754"/>
                </a:cubicBezTo>
                <a:cubicBezTo>
                  <a:pt x="4720378" y="2434937"/>
                  <a:pt x="4743537" y="2434937"/>
                  <a:pt x="4766695" y="2438137"/>
                </a:cubicBezTo>
                <a:cubicBezTo>
                  <a:pt x="4743537" y="2431754"/>
                  <a:pt x="4723683" y="2422187"/>
                  <a:pt x="4700525" y="2415803"/>
                </a:cubicBezTo>
                <a:cubicBezTo>
                  <a:pt x="4690588" y="2412603"/>
                  <a:pt x="4677366" y="2409420"/>
                  <a:pt x="4667430" y="2406220"/>
                </a:cubicBezTo>
                <a:cubicBezTo>
                  <a:pt x="4660819" y="2403037"/>
                  <a:pt x="4650902" y="2403037"/>
                  <a:pt x="4644271" y="2399836"/>
                </a:cubicBezTo>
                <a:cubicBezTo>
                  <a:pt x="4644271" y="2383886"/>
                  <a:pt x="4640965" y="2371119"/>
                  <a:pt x="4640965" y="2355169"/>
                </a:cubicBezTo>
                <a:cubicBezTo>
                  <a:pt x="4637660" y="2339202"/>
                  <a:pt x="4637660" y="2320052"/>
                  <a:pt x="4634354" y="2304102"/>
                </a:cubicBezTo>
                <a:lnTo>
                  <a:pt x="4634354" y="2297718"/>
                </a:lnTo>
                <a:lnTo>
                  <a:pt x="4627743" y="2294535"/>
                </a:lnTo>
                <a:cubicBezTo>
                  <a:pt x="4581426" y="2253051"/>
                  <a:pt x="4531783" y="2214750"/>
                  <a:pt x="4485466" y="2176449"/>
                </a:cubicBezTo>
                <a:cubicBezTo>
                  <a:pt x="4462307" y="2157299"/>
                  <a:pt x="4435843" y="2138149"/>
                  <a:pt x="4409359" y="2122198"/>
                </a:cubicBezTo>
                <a:cubicBezTo>
                  <a:pt x="4386200" y="2106248"/>
                  <a:pt x="4363041" y="2090281"/>
                  <a:pt x="4336577" y="2074331"/>
                </a:cubicBezTo>
                <a:close/>
                <a:moveTo>
                  <a:pt x="2457429" y="1905197"/>
                </a:moveTo>
                <a:cubicBezTo>
                  <a:pt x="2533186" y="1905197"/>
                  <a:pt x="2596247" y="1965850"/>
                  <a:pt x="2596247" y="2039283"/>
                </a:cubicBezTo>
                <a:cubicBezTo>
                  <a:pt x="2596247" y="2112715"/>
                  <a:pt x="2533186" y="2173369"/>
                  <a:pt x="2457429" y="2173369"/>
                </a:cubicBezTo>
                <a:cubicBezTo>
                  <a:pt x="2381248" y="2173369"/>
                  <a:pt x="2318187" y="2112715"/>
                  <a:pt x="2318187" y="2039283"/>
                </a:cubicBezTo>
                <a:cubicBezTo>
                  <a:pt x="2318187" y="1965850"/>
                  <a:pt x="2381248" y="1905197"/>
                  <a:pt x="2457429" y="1905197"/>
                </a:cubicBezTo>
                <a:close/>
                <a:moveTo>
                  <a:pt x="6688857" y="1771111"/>
                </a:moveTo>
                <a:cubicBezTo>
                  <a:pt x="6613099" y="1771111"/>
                  <a:pt x="6550039" y="1831764"/>
                  <a:pt x="6550039" y="1905197"/>
                </a:cubicBezTo>
                <a:cubicBezTo>
                  <a:pt x="6550039" y="1978629"/>
                  <a:pt x="6613099" y="2039283"/>
                  <a:pt x="6688857" y="2039283"/>
                </a:cubicBezTo>
                <a:cubicBezTo>
                  <a:pt x="6765038" y="2039283"/>
                  <a:pt x="6828099" y="1978629"/>
                  <a:pt x="6828099" y="1905197"/>
                </a:cubicBezTo>
                <a:cubicBezTo>
                  <a:pt x="6828099" y="1831764"/>
                  <a:pt x="6765038" y="1771111"/>
                  <a:pt x="6688857" y="1771111"/>
                </a:cubicBezTo>
                <a:close/>
                <a:moveTo>
                  <a:pt x="2286" y="0"/>
                </a:moveTo>
                <a:lnTo>
                  <a:pt x="2286" y="989315"/>
                </a:lnTo>
                <a:lnTo>
                  <a:pt x="2286" y="2032791"/>
                </a:lnTo>
                <a:lnTo>
                  <a:pt x="2286" y="3719687"/>
                </a:lnTo>
                <a:lnTo>
                  <a:pt x="0" y="3719687"/>
                </a:lnTo>
                <a:lnTo>
                  <a:pt x="0" y="4081545"/>
                </a:lnTo>
                <a:lnTo>
                  <a:pt x="0" y="5098665"/>
                </a:lnTo>
                <a:lnTo>
                  <a:pt x="0" y="5460523"/>
                </a:lnTo>
                <a:lnTo>
                  <a:pt x="9144000" y="5460523"/>
                </a:lnTo>
                <a:lnTo>
                  <a:pt x="9144000" y="5098665"/>
                </a:lnTo>
                <a:lnTo>
                  <a:pt x="9144000" y="4381628"/>
                </a:lnTo>
                <a:lnTo>
                  <a:pt x="9144000" y="4081545"/>
                </a:lnTo>
                <a:lnTo>
                  <a:pt x="9144000" y="3719687"/>
                </a:lnTo>
                <a:lnTo>
                  <a:pt x="9144000" y="1209410"/>
                </a:lnTo>
                <a:lnTo>
                  <a:pt x="6596170" y="2227530"/>
                </a:lnTo>
                <a:cubicBezTo>
                  <a:pt x="6523375" y="2256335"/>
                  <a:pt x="6467509" y="2233819"/>
                  <a:pt x="6447617" y="2182903"/>
                </a:cubicBezTo>
                <a:lnTo>
                  <a:pt x="6394714" y="2048817"/>
                </a:lnTo>
                <a:lnTo>
                  <a:pt x="6298641" y="2093444"/>
                </a:lnTo>
                <a:cubicBezTo>
                  <a:pt x="6249124" y="2115758"/>
                  <a:pt x="6189449" y="2096690"/>
                  <a:pt x="6166171" y="2048817"/>
                </a:cubicBezTo>
                <a:lnTo>
                  <a:pt x="5736172" y="1148960"/>
                </a:lnTo>
                <a:cubicBezTo>
                  <a:pt x="5607088" y="1209410"/>
                  <a:pt x="5425100" y="1279800"/>
                  <a:pt x="5352305" y="1305157"/>
                </a:cubicBezTo>
                <a:cubicBezTo>
                  <a:pt x="5359076" y="1308403"/>
                  <a:pt x="5365425" y="1308403"/>
                  <a:pt x="5368810" y="1311648"/>
                </a:cubicBezTo>
                <a:cubicBezTo>
                  <a:pt x="5398860" y="1324428"/>
                  <a:pt x="5428486" y="1340251"/>
                  <a:pt x="5451763" y="1359522"/>
                </a:cubicBezTo>
                <a:cubicBezTo>
                  <a:pt x="5458111" y="1365810"/>
                  <a:pt x="5464883" y="1369056"/>
                  <a:pt x="5471232" y="1375547"/>
                </a:cubicBezTo>
                <a:lnTo>
                  <a:pt x="5488161" y="1391370"/>
                </a:lnTo>
                <a:cubicBezTo>
                  <a:pt x="5494509" y="1397861"/>
                  <a:pt x="5497895" y="1404149"/>
                  <a:pt x="5504666" y="1410641"/>
                </a:cubicBezTo>
                <a:lnTo>
                  <a:pt x="5511015" y="1420175"/>
                </a:lnTo>
                <a:lnTo>
                  <a:pt x="5517787" y="1429709"/>
                </a:lnTo>
                <a:cubicBezTo>
                  <a:pt x="5537679" y="1455268"/>
                  <a:pt x="5550798" y="1483871"/>
                  <a:pt x="5560956" y="1515921"/>
                </a:cubicBezTo>
                <a:cubicBezTo>
                  <a:pt x="5547413" y="1487116"/>
                  <a:pt x="5530907" y="1458514"/>
                  <a:pt x="5511015" y="1435997"/>
                </a:cubicBezTo>
                <a:lnTo>
                  <a:pt x="5504666" y="1426463"/>
                </a:lnTo>
                <a:lnTo>
                  <a:pt x="5494509" y="1416929"/>
                </a:lnTo>
                <a:cubicBezTo>
                  <a:pt x="5488161" y="1410641"/>
                  <a:pt x="5484775" y="1407395"/>
                  <a:pt x="5478004" y="1400904"/>
                </a:cubicBezTo>
                <a:lnTo>
                  <a:pt x="5461498" y="1388124"/>
                </a:lnTo>
                <a:cubicBezTo>
                  <a:pt x="5454726" y="1381835"/>
                  <a:pt x="5448378" y="1378590"/>
                  <a:pt x="5441606" y="1375344"/>
                </a:cubicBezTo>
                <a:cubicBezTo>
                  <a:pt x="5415365" y="1359522"/>
                  <a:pt x="5388702" y="1346742"/>
                  <a:pt x="5359076" y="1337208"/>
                </a:cubicBezTo>
                <a:cubicBezTo>
                  <a:pt x="5345533" y="1333962"/>
                  <a:pt x="5329027" y="1327674"/>
                  <a:pt x="5315907" y="1324428"/>
                </a:cubicBezTo>
                <a:cubicBezTo>
                  <a:pt x="5309135" y="1324428"/>
                  <a:pt x="5306173" y="1321182"/>
                  <a:pt x="5299401" y="1321182"/>
                </a:cubicBezTo>
                <a:lnTo>
                  <a:pt x="5296016" y="1321182"/>
                </a:lnTo>
                <a:lnTo>
                  <a:pt x="5292630" y="1321182"/>
                </a:lnTo>
                <a:cubicBezTo>
                  <a:pt x="5120800" y="1295623"/>
                  <a:pt x="4690800" y="1241461"/>
                  <a:pt x="4647631" y="1241461"/>
                </a:cubicBezTo>
                <a:cubicBezTo>
                  <a:pt x="4634511" y="1244504"/>
                  <a:pt x="4574836" y="1276555"/>
                  <a:pt x="4498655" y="1321182"/>
                </a:cubicBezTo>
                <a:lnTo>
                  <a:pt x="4478764" y="1333962"/>
                </a:lnTo>
                <a:cubicBezTo>
                  <a:pt x="4359837" y="1404149"/>
                  <a:pt x="4201126" y="1506387"/>
                  <a:pt x="4081776" y="1579617"/>
                </a:cubicBezTo>
                <a:cubicBezTo>
                  <a:pt x="4072042" y="1614711"/>
                  <a:pt x="4022101" y="1777602"/>
                  <a:pt x="3972583" y="1937045"/>
                </a:cubicBezTo>
                <a:cubicBezTo>
                  <a:pt x="3972583" y="1937045"/>
                  <a:pt x="3899788" y="2144563"/>
                  <a:pt x="3879896" y="2189191"/>
                </a:cubicBezTo>
                <a:cubicBezTo>
                  <a:pt x="3876510" y="2195682"/>
                  <a:pt x="3873548" y="2201971"/>
                  <a:pt x="3873548" y="2208462"/>
                </a:cubicBezTo>
                <a:cubicBezTo>
                  <a:pt x="3873548" y="2211505"/>
                  <a:pt x="3873548" y="2211505"/>
                  <a:pt x="3873548" y="2211505"/>
                </a:cubicBezTo>
                <a:cubicBezTo>
                  <a:pt x="3876510" y="2221039"/>
                  <a:pt x="3883282" y="2227530"/>
                  <a:pt x="3890054" y="2233819"/>
                </a:cubicBezTo>
                <a:cubicBezTo>
                  <a:pt x="3890054" y="2233819"/>
                  <a:pt x="3893016" y="2233819"/>
                  <a:pt x="3896402" y="2237064"/>
                </a:cubicBezTo>
                <a:cubicBezTo>
                  <a:pt x="3903174" y="2240310"/>
                  <a:pt x="3906560" y="2243556"/>
                  <a:pt x="3912908" y="2246598"/>
                </a:cubicBezTo>
                <a:cubicBezTo>
                  <a:pt x="3926451" y="2253090"/>
                  <a:pt x="3946343" y="2256335"/>
                  <a:pt x="3972583" y="2259378"/>
                </a:cubicBezTo>
                <a:cubicBezTo>
                  <a:pt x="4048764" y="2243556"/>
                  <a:pt x="4147799" y="2201971"/>
                  <a:pt x="4190969" y="2160589"/>
                </a:cubicBezTo>
                <a:cubicBezTo>
                  <a:pt x="4256992" y="2099936"/>
                  <a:pt x="4323439" y="2029748"/>
                  <a:pt x="4379728" y="1965850"/>
                </a:cubicBezTo>
                <a:cubicBezTo>
                  <a:pt x="4462258" y="1870103"/>
                  <a:pt x="4528281" y="1796670"/>
                  <a:pt x="4584570" y="1777602"/>
                </a:cubicBezTo>
                <a:cubicBezTo>
                  <a:pt x="4584570" y="1768068"/>
                  <a:pt x="4584570" y="1755288"/>
                  <a:pt x="4584570" y="1745551"/>
                </a:cubicBezTo>
                <a:cubicBezTo>
                  <a:pt x="4581608" y="1723237"/>
                  <a:pt x="4578222" y="1700923"/>
                  <a:pt x="4574836" y="1678610"/>
                </a:cubicBezTo>
                <a:cubicBezTo>
                  <a:pt x="4568065" y="1656296"/>
                  <a:pt x="4561716" y="1633982"/>
                  <a:pt x="4551559" y="1614711"/>
                </a:cubicBezTo>
                <a:cubicBezTo>
                  <a:pt x="4541824" y="1595643"/>
                  <a:pt x="4528281" y="1573329"/>
                  <a:pt x="4515161" y="1557303"/>
                </a:cubicBezTo>
                <a:cubicBezTo>
                  <a:pt x="4531667" y="1573329"/>
                  <a:pt x="4548173" y="1589354"/>
                  <a:pt x="4561716" y="1611668"/>
                </a:cubicBezTo>
                <a:cubicBezTo>
                  <a:pt x="4574836" y="1630736"/>
                  <a:pt x="4584570" y="1653050"/>
                  <a:pt x="4591342" y="1675364"/>
                </a:cubicBezTo>
                <a:cubicBezTo>
                  <a:pt x="4601076" y="1697678"/>
                  <a:pt x="4607848" y="1720195"/>
                  <a:pt x="4611234" y="1742508"/>
                </a:cubicBezTo>
                <a:cubicBezTo>
                  <a:pt x="4614620" y="1752042"/>
                  <a:pt x="4614620" y="1764822"/>
                  <a:pt x="4618005" y="1774356"/>
                </a:cubicBezTo>
                <a:cubicBezTo>
                  <a:pt x="4624354" y="1774356"/>
                  <a:pt x="4627740" y="1774356"/>
                  <a:pt x="4634511" y="1777602"/>
                </a:cubicBezTo>
                <a:cubicBezTo>
                  <a:pt x="4684029" y="1793424"/>
                  <a:pt x="4773330" y="1873349"/>
                  <a:pt x="4852897" y="1940290"/>
                </a:cubicBezTo>
                <a:cubicBezTo>
                  <a:pt x="4889294" y="1972138"/>
                  <a:pt x="4928654" y="2007232"/>
                  <a:pt x="4955318" y="2026503"/>
                </a:cubicBezTo>
                <a:cubicBezTo>
                  <a:pt x="4968437" y="2032791"/>
                  <a:pt x="4988329" y="2039283"/>
                  <a:pt x="4988329" y="2042325"/>
                </a:cubicBezTo>
                <a:cubicBezTo>
                  <a:pt x="4988329" y="2042325"/>
                  <a:pt x="4991715" y="2042325"/>
                  <a:pt x="4991715" y="2042325"/>
                </a:cubicBezTo>
                <a:cubicBezTo>
                  <a:pt x="4998486" y="2042325"/>
                  <a:pt x="5001449" y="2042325"/>
                  <a:pt x="5008221" y="2042325"/>
                </a:cubicBezTo>
                <a:cubicBezTo>
                  <a:pt x="5021341" y="2042325"/>
                  <a:pt x="5031499" y="2042325"/>
                  <a:pt x="5044618" y="2039283"/>
                </a:cubicBezTo>
                <a:cubicBezTo>
                  <a:pt x="5067896" y="2036037"/>
                  <a:pt x="5094136" y="2036037"/>
                  <a:pt x="5117413" y="2032791"/>
                </a:cubicBezTo>
                <a:cubicBezTo>
                  <a:pt x="5163545" y="2026503"/>
                  <a:pt x="5213486" y="2016969"/>
                  <a:pt x="5259618" y="2007232"/>
                </a:cubicBezTo>
                <a:cubicBezTo>
                  <a:pt x="5306173" y="1994655"/>
                  <a:pt x="5352305" y="1981875"/>
                  <a:pt x="5398436" y="1962604"/>
                </a:cubicBezTo>
                <a:cubicBezTo>
                  <a:pt x="5421714" y="1953070"/>
                  <a:pt x="5441606" y="1940290"/>
                  <a:pt x="5461498" y="1924265"/>
                </a:cubicBezTo>
                <a:cubicBezTo>
                  <a:pt x="5481389" y="1908442"/>
                  <a:pt x="5497895" y="1889171"/>
                  <a:pt x="5504666" y="1866857"/>
                </a:cubicBezTo>
                <a:cubicBezTo>
                  <a:pt x="5501281" y="1892417"/>
                  <a:pt x="5484775" y="1911485"/>
                  <a:pt x="5464883" y="1927510"/>
                </a:cubicBezTo>
                <a:cubicBezTo>
                  <a:pt x="5444991" y="1943536"/>
                  <a:pt x="5425100" y="1956316"/>
                  <a:pt x="5401823" y="1969095"/>
                </a:cubicBezTo>
                <a:cubicBezTo>
                  <a:pt x="5359076" y="1991409"/>
                  <a:pt x="5312521" y="2010477"/>
                  <a:pt x="5266390" y="2023257"/>
                </a:cubicBezTo>
                <a:cubicBezTo>
                  <a:pt x="5219835" y="2036037"/>
                  <a:pt x="5170317" y="2048817"/>
                  <a:pt x="5124185" y="2058351"/>
                </a:cubicBezTo>
                <a:cubicBezTo>
                  <a:pt x="5100908" y="2061596"/>
                  <a:pt x="5074244" y="2067885"/>
                  <a:pt x="5051390" y="2071130"/>
                </a:cubicBezTo>
                <a:cubicBezTo>
                  <a:pt x="5048004" y="2071130"/>
                  <a:pt x="5041233" y="2071130"/>
                  <a:pt x="5037847" y="2071130"/>
                </a:cubicBezTo>
                <a:cubicBezTo>
                  <a:pt x="5041233" y="2071130"/>
                  <a:pt x="5041233" y="2074376"/>
                  <a:pt x="5044618" y="2074376"/>
                </a:cubicBezTo>
                <a:cubicBezTo>
                  <a:pt x="5064510" y="2087156"/>
                  <a:pt x="5084402" y="2096690"/>
                  <a:pt x="5107680" y="2102978"/>
                </a:cubicBezTo>
                <a:cubicBezTo>
                  <a:pt x="5130534" y="2112715"/>
                  <a:pt x="5150426" y="2115758"/>
                  <a:pt x="5173703" y="2122250"/>
                </a:cubicBezTo>
                <a:cubicBezTo>
                  <a:pt x="5196981" y="2125495"/>
                  <a:pt x="5219835" y="2128538"/>
                  <a:pt x="5243112" y="2125495"/>
                </a:cubicBezTo>
                <a:cubicBezTo>
                  <a:pt x="5219835" y="2131784"/>
                  <a:pt x="5196981" y="2138072"/>
                  <a:pt x="5170317" y="2138072"/>
                </a:cubicBezTo>
                <a:cubicBezTo>
                  <a:pt x="5147039" y="2141318"/>
                  <a:pt x="5120800" y="2138072"/>
                  <a:pt x="5097522" y="2138072"/>
                </a:cubicBezTo>
                <a:cubicBezTo>
                  <a:pt x="5084402" y="2138072"/>
                  <a:pt x="5071282" y="2135029"/>
                  <a:pt x="5057738" y="2131784"/>
                </a:cubicBezTo>
                <a:lnTo>
                  <a:pt x="5153811" y="2278649"/>
                </a:lnTo>
                <a:cubicBezTo>
                  <a:pt x="5180474" y="2304006"/>
                  <a:pt x="5206715" y="2326523"/>
                  <a:pt x="5229992" y="2348837"/>
                </a:cubicBezTo>
                <a:lnTo>
                  <a:pt x="5444991" y="2600983"/>
                </a:lnTo>
                <a:cubicBezTo>
                  <a:pt x="5448378" y="2600983"/>
                  <a:pt x="5448378" y="2600983"/>
                  <a:pt x="5451763" y="2600983"/>
                </a:cubicBezTo>
                <a:cubicBezTo>
                  <a:pt x="5458111" y="2600983"/>
                  <a:pt x="5464883" y="2600983"/>
                  <a:pt x="5471232" y="2600983"/>
                </a:cubicBezTo>
                <a:cubicBezTo>
                  <a:pt x="5481389" y="2604026"/>
                  <a:pt x="5488161" y="2607272"/>
                  <a:pt x="5497895" y="2610517"/>
                </a:cubicBezTo>
                <a:cubicBezTo>
                  <a:pt x="5507630" y="2613763"/>
                  <a:pt x="5514401" y="2620051"/>
                  <a:pt x="5521172" y="2626340"/>
                </a:cubicBezTo>
                <a:cubicBezTo>
                  <a:pt x="5527521" y="2632831"/>
                  <a:pt x="5534292" y="2639120"/>
                  <a:pt x="5541064" y="2648857"/>
                </a:cubicBezTo>
                <a:cubicBezTo>
                  <a:pt x="5537679" y="2639120"/>
                  <a:pt x="5534292" y="2629585"/>
                  <a:pt x="5527521" y="2620051"/>
                </a:cubicBezTo>
                <a:cubicBezTo>
                  <a:pt x="5521172" y="2610517"/>
                  <a:pt x="5514401" y="2604026"/>
                  <a:pt x="5507630" y="2597738"/>
                </a:cubicBezTo>
                <a:cubicBezTo>
                  <a:pt x="5501281" y="2591246"/>
                  <a:pt x="5491124" y="2584958"/>
                  <a:pt x="5484775" y="2581712"/>
                </a:cubicBezTo>
                <a:cubicBezTo>
                  <a:pt x="5491124" y="2578466"/>
                  <a:pt x="5497895" y="2575424"/>
                  <a:pt x="5507630" y="2572178"/>
                </a:cubicBezTo>
                <a:cubicBezTo>
                  <a:pt x="5560956" y="2549864"/>
                  <a:pt x="5610473" y="2530593"/>
                  <a:pt x="5653219" y="2505237"/>
                </a:cubicBezTo>
                <a:cubicBezTo>
                  <a:pt x="5653219" y="2514771"/>
                  <a:pt x="5656606" y="2524305"/>
                  <a:pt x="5656606" y="2537084"/>
                </a:cubicBezTo>
                <a:cubicBezTo>
                  <a:pt x="5663377" y="2604026"/>
                  <a:pt x="5676497" y="2715798"/>
                  <a:pt x="5640099" y="2802011"/>
                </a:cubicBezTo>
                <a:cubicBezTo>
                  <a:pt x="5590582" y="2884978"/>
                  <a:pt x="5448378" y="2904046"/>
                  <a:pt x="5339185" y="2891266"/>
                </a:cubicBezTo>
                <a:lnTo>
                  <a:pt x="5332413" y="2891266"/>
                </a:lnTo>
                <a:lnTo>
                  <a:pt x="4912148" y="2460406"/>
                </a:lnTo>
                <a:cubicBezTo>
                  <a:pt x="4915534" y="2460406"/>
                  <a:pt x="4918920" y="2457363"/>
                  <a:pt x="4922306" y="2457363"/>
                </a:cubicBezTo>
                <a:cubicBezTo>
                  <a:pt x="4935426" y="2450872"/>
                  <a:pt x="4948546" y="2444583"/>
                  <a:pt x="4962089" y="2435049"/>
                </a:cubicBezTo>
                <a:cubicBezTo>
                  <a:pt x="4945160" y="2431804"/>
                  <a:pt x="4932040" y="2431804"/>
                  <a:pt x="4915534" y="2431804"/>
                </a:cubicBezTo>
                <a:cubicBezTo>
                  <a:pt x="4899028" y="2431804"/>
                  <a:pt x="4885908" y="2435049"/>
                  <a:pt x="4872365" y="2438092"/>
                </a:cubicBezTo>
                <a:cubicBezTo>
                  <a:pt x="4859245" y="2441338"/>
                  <a:pt x="4842739" y="2444583"/>
                  <a:pt x="4829619" y="2450872"/>
                </a:cubicBezTo>
                <a:cubicBezTo>
                  <a:pt x="4816499" y="2457363"/>
                  <a:pt x="4802956" y="2463652"/>
                  <a:pt x="4789836" y="2470143"/>
                </a:cubicBezTo>
                <a:cubicBezTo>
                  <a:pt x="4806342" y="2473186"/>
                  <a:pt x="4822847" y="2473186"/>
                  <a:pt x="4836391" y="2473186"/>
                </a:cubicBezTo>
                <a:cubicBezTo>
                  <a:pt x="4849511" y="2473186"/>
                  <a:pt x="4862631" y="2470143"/>
                  <a:pt x="4875751" y="2466897"/>
                </a:cubicBezTo>
                <a:lnTo>
                  <a:pt x="5315907" y="2916826"/>
                </a:lnTo>
                <a:cubicBezTo>
                  <a:pt x="5289667" y="2990258"/>
                  <a:pt x="5229992" y="3038132"/>
                  <a:pt x="5180474" y="3060446"/>
                </a:cubicBezTo>
                <a:cubicBezTo>
                  <a:pt x="5140691" y="3079514"/>
                  <a:pt x="5100908" y="3082759"/>
                  <a:pt x="5074244" y="3073225"/>
                </a:cubicBezTo>
                <a:lnTo>
                  <a:pt x="4667523" y="2712552"/>
                </a:lnTo>
                <a:cubicBezTo>
                  <a:pt x="4677257" y="2709307"/>
                  <a:pt x="4687415" y="2706264"/>
                  <a:pt x="4697149" y="2703018"/>
                </a:cubicBezTo>
                <a:cubicBezTo>
                  <a:pt x="4710269" y="2696730"/>
                  <a:pt x="4723812" y="2690239"/>
                  <a:pt x="4736932" y="2680704"/>
                </a:cubicBezTo>
                <a:cubicBezTo>
                  <a:pt x="4720426" y="2677459"/>
                  <a:pt x="4707306" y="2677459"/>
                  <a:pt x="4690800" y="2677459"/>
                </a:cubicBezTo>
                <a:cubicBezTo>
                  <a:pt x="4673871" y="2677459"/>
                  <a:pt x="4660751" y="2680704"/>
                  <a:pt x="4647631" y="2683950"/>
                </a:cubicBezTo>
                <a:cubicBezTo>
                  <a:pt x="4634511" y="2686993"/>
                  <a:pt x="4618005" y="2690239"/>
                  <a:pt x="4604462" y="2696730"/>
                </a:cubicBezTo>
                <a:cubicBezTo>
                  <a:pt x="4591342" y="2703018"/>
                  <a:pt x="4578222" y="2709307"/>
                  <a:pt x="4564679" y="2715798"/>
                </a:cubicBezTo>
                <a:cubicBezTo>
                  <a:pt x="4581608" y="2719044"/>
                  <a:pt x="4594728" y="2719044"/>
                  <a:pt x="4611234" y="2719044"/>
                </a:cubicBezTo>
                <a:cubicBezTo>
                  <a:pt x="4618005" y="2719044"/>
                  <a:pt x="4620968" y="2719044"/>
                  <a:pt x="4627740" y="2715798"/>
                </a:cubicBezTo>
                <a:lnTo>
                  <a:pt x="5048004" y="3086005"/>
                </a:lnTo>
                <a:cubicBezTo>
                  <a:pt x="5028112" y="3159438"/>
                  <a:pt x="4945160" y="3229625"/>
                  <a:pt x="4875751" y="3248693"/>
                </a:cubicBezTo>
                <a:cubicBezTo>
                  <a:pt x="4816499" y="3264719"/>
                  <a:pt x="4766558" y="3235914"/>
                  <a:pt x="4750052" y="3226379"/>
                </a:cubicBezTo>
                <a:lnTo>
                  <a:pt x="4743704" y="3223134"/>
                </a:lnTo>
                <a:lnTo>
                  <a:pt x="4405968" y="2881732"/>
                </a:lnTo>
                <a:cubicBezTo>
                  <a:pt x="4389463" y="2859418"/>
                  <a:pt x="4369571" y="2843393"/>
                  <a:pt x="4343331" y="2833859"/>
                </a:cubicBezTo>
                <a:cubicBezTo>
                  <a:pt x="4323439" y="2827570"/>
                  <a:pt x="4303547" y="2830613"/>
                  <a:pt x="4283656" y="2837104"/>
                </a:cubicBezTo>
                <a:cubicBezTo>
                  <a:pt x="4290427" y="2827570"/>
                  <a:pt x="4296776" y="2817833"/>
                  <a:pt x="4300162" y="2808299"/>
                </a:cubicBezTo>
                <a:cubicBezTo>
                  <a:pt x="4329787" y="2760426"/>
                  <a:pt x="4290427" y="2661433"/>
                  <a:pt x="4217632" y="2604026"/>
                </a:cubicBezTo>
                <a:cubicBezTo>
                  <a:pt x="4161343" y="2559398"/>
                  <a:pt x="4101667" y="2549864"/>
                  <a:pt x="4045378" y="2575424"/>
                </a:cubicBezTo>
                <a:cubicBezTo>
                  <a:pt x="4048764" y="2568932"/>
                  <a:pt x="4048764" y="2562644"/>
                  <a:pt x="4052150" y="2556153"/>
                </a:cubicBezTo>
                <a:cubicBezTo>
                  <a:pt x="4058498" y="2514771"/>
                  <a:pt x="4028872" y="2447626"/>
                  <a:pt x="3979355" y="2402999"/>
                </a:cubicBezTo>
                <a:cubicBezTo>
                  <a:pt x="3929414" y="2358371"/>
                  <a:pt x="3873548" y="2339303"/>
                  <a:pt x="3817259" y="2351880"/>
                </a:cubicBezTo>
                <a:cubicBezTo>
                  <a:pt x="3777475" y="2361616"/>
                  <a:pt x="3717800" y="2409490"/>
                  <a:pt x="3645005" y="2495500"/>
                </a:cubicBezTo>
                <a:cubicBezTo>
                  <a:pt x="3651777" y="2463652"/>
                  <a:pt x="3655162" y="2431804"/>
                  <a:pt x="3648391" y="2406244"/>
                </a:cubicBezTo>
                <a:cubicBezTo>
                  <a:pt x="3608607" y="2265870"/>
                  <a:pt x="3509572" y="2281692"/>
                  <a:pt x="3446511" y="2291429"/>
                </a:cubicBezTo>
                <a:cubicBezTo>
                  <a:pt x="3436777" y="2291429"/>
                  <a:pt x="3426620" y="2294472"/>
                  <a:pt x="3420271" y="2294472"/>
                </a:cubicBezTo>
                <a:cubicBezTo>
                  <a:pt x="3383874" y="2297717"/>
                  <a:pt x="3314041" y="2380685"/>
                  <a:pt x="3248018" y="2463652"/>
                </a:cubicBezTo>
                <a:lnTo>
                  <a:pt x="3000006" y="2291429"/>
                </a:lnTo>
                <a:lnTo>
                  <a:pt x="3410114" y="1429709"/>
                </a:lnTo>
                <a:cubicBezTo>
                  <a:pt x="3433391" y="1381835"/>
                  <a:pt x="3410114" y="1327674"/>
                  <a:pt x="3363982" y="1305157"/>
                </a:cubicBezTo>
                <a:lnTo>
                  <a:pt x="3188342" y="1225436"/>
                </a:lnTo>
                <a:lnTo>
                  <a:pt x="3231512" y="1120155"/>
                </a:lnTo>
                <a:cubicBezTo>
                  <a:pt x="3251403" y="1069036"/>
                  <a:pt x="3224740" y="1014874"/>
                  <a:pt x="3171837" y="99560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28567" tIns="28567" rIns="28567" bIns="28567" anchor="ctr" anchorCtr="0">
            <a:noAutofit/>
          </a:bodyPr>
          <a:lstStyle/>
          <a:p>
            <a:pPr>
              <a:buClr>
                <a:srgbClr val="000000"/>
              </a:buClr>
              <a:buSzPts val="1700"/>
            </a:pPr>
            <a:endParaRPr sz="2267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50"/>
          <p:cNvSpPr txBox="1"/>
          <p:nvPr/>
        </p:nvSpPr>
        <p:spPr>
          <a:xfrm>
            <a:off x="4677905" y="1963117"/>
            <a:ext cx="2836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de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-téma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2B65"/>
      </a:accent1>
      <a:accent2>
        <a:srgbClr val="9BA7C0"/>
      </a:accent2>
      <a:accent3>
        <a:srgbClr val="D0A616"/>
      </a:accent3>
      <a:accent4>
        <a:srgbClr val="D9D9D9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2"/>
      </a:folHlink>
    </a:clrScheme>
    <a:fontScheme name="2. egyéni séma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246759795E1504D9402D042697C5BAE" ma:contentTypeVersion="3" ma:contentTypeDescription="Ein neues Dokument erstellen." ma:contentTypeScope="" ma:versionID="c161db7398dce7dd931817d955d758ad">
  <xsd:schema xmlns:xsd="http://www.w3.org/2001/XMLSchema" xmlns:xs="http://www.w3.org/2001/XMLSchema" xmlns:p="http://schemas.microsoft.com/office/2006/metadata/properties" xmlns:ns2="90e81457-e148-4058-bb4c-48b2d4dcffb2" targetNamespace="http://schemas.microsoft.com/office/2006/metadata/properties" ma:root="true" ma:fieldsID="ccaade1d1a545fa3b1a04c333489893a" ns2:_="">
    <xsd:import namespace="90e81457-e148-4058-bb4c-48b2d4dcff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e81457-e148-4058-bb4c-48b2d4dcff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12E953-6F6D-499C-9B19-5C01CCEE4166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2006/metadata/properties"/>
    <ds:schemaRef ds:uri="90e81457-e148-4058-bb4c-48b2d4dcffb2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FEA0AE5-F3BB-4154-92B1-5F70B3E6C2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08A8C4-9439-4E75-B739-CC8C9C3838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e81457-e148-4058-bb4c-48b2d4dcff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852</Words>
  <Application>Microsoft Office PowerPoint</Application>
  <PresentationFormat>Widescreen</PresentationFormat>
  <Paragraphs>125</Paragraphs>
  <Slides>18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Century Gothic</vt:lpstr>
      <vt:lpstr>Nexa Black</vt:lpstr>
      <vt:lpstr>Wingdings</vt:lpstr>
      <vt:lpstr>Office-téma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windows</dc:creator>
  <cp:lastModifiedBy>Samaj, Tomas</cp:lastModifiedBy>
  <cp:revision>1</cp:revision>
  <dcterms:created xsi:type="dcterms:W3CDTF">2022-03-14T08:11:17Z</dcterms:created>
  <dcterms:modified xsi:type="dcterms:W3CDTF">2026-02-04T09:25:08Z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0x0101008246759795E1504D9402D042697C5BAE</vt:lpwstr>
  </property>
  <property fmtid="{D5CDD505-2E9C-101B-9397-08002B2CF9AE}" pid="3" name="Order">
    <vt:r8>5300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